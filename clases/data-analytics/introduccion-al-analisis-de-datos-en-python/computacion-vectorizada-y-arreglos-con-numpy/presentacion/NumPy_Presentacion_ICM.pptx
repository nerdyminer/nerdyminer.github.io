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1463040"/>
            <a:ext cx="10789920" cy="381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7899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Calibri"/>
              </a:rPr>
              <a:t>Computación Vectorizada y Arreglos con NumPy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01752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E94560"/>
                </a:solidFill>
                <a:latin typeface="Calibri"/>
              </a:rPr>
              <a:t>Del dato al modelo — el lenguaje del cómputo numérico en Python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65760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CCDD"/>
                </a:solidFill>
                <a:latin typeface="Calibri"/>
              </a:rPr>
              <a:t>René Quezada C.  ·  Análisis de Datos  ·  Ingeniería Civil en Minería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88952" cy="381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2471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Agenda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12700"/>
          </a:xfrm>
          <a:prstGeom prst="rect">
            <a:avLst/>
          </a:prstGeom>
          <a:solidFill>
            <a:srgbClr val="CC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379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DD"/>
                </a:solidFill>
                <a:latin typeface="Calibri"/>
              </a:rPr>
              <a:t>Análisis de Datos con Python · 4° año ICM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960120"/>
            <a:ext cx="320040" cy="8229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124712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960120"/>
            <a:ext cx="10789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3460"/>
                </a:solidFill>
                <a:latin typeface="Calibri"/>
              </a:rPr>
              <a:t>Módulo 1 — El arreglo (ndarray)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252728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55"/>
                </a:solidFill>
                <a:latin typeface="Calibri"/>
              </a:rPr>
              <a:t>El ndarray y su geometría · Rutinas de creación · Tipos de datos · Números aleatorios · I/O · Indexación, slicing y redimensionamiento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920240"/>
            <a:ext cx="320040" cy="82296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2084832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1920240"/>
            <a:ext cx="10789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3460"/>
                </a:solidFill>
                <a:latin typeface="Calibri"/>
              </a:rPr>
              <a:t>Módulo 2 — Operatoria vectorizada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2212848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55"/>
                </a:solidFill>
                <a:latin typeface="Calibri"/>
              </a:rPr>
              <a:t>Por qué los bucles son lentos · ufuncs · Aritmética · Hadamard vs producto matricial · Álgebra lineal · Funciones matemáticas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880360"/>
            <a:ext cx="320040" cy="8229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3044952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2880360"/>
            <a:ext cx="10789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3460"/>
                </a:solidFill>
                <a:latin typeface="Calibri"/>
              </a:rPr>
              <a:t>Módulo 3 — Broadcasting y Agregación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3172968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55"/>
                </a:solidFill>
                <a:latin typeface="Calibri"/>
              </a:rPr>
              <a:t>Reglas de broadcasting · Estandarización z-score · Operaciones de agregación por eje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840480"/>
            <a:ext cx="320040" cy="82296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4005072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3840480"/>
            <a:ext cx="10789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3460"/>
                </a:solidFill>
                <a:latin typeface="Calibri"/>
              </a:rPr>
              <a:t>Módulo 4 — Filtrado, Selección y Ordenamiento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4133088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55"/>
                </a:solidFill>
                <a:latin typeface="Calibri"/>
              </a:rPr>
              <a:t>Comparación booleana · Masking · Fancy indexing · Ordenamiento · Reemplazo condicional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4800600"/>
            <a:ext cx="320040" cy="8229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" y="4965192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4800600"/>
            <a:ext cx="10789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3460"/>
                </a:solidFill>
                <a:latin typeface="Calibri"/>
              </a:rPr>
              <a:t>Módulo 5 — Modelamiento predictivo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5093208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55"/>
                </a:solidFill>
                <a:latin typeface="Calibri"/>
              </a:rPr>
              <a:t>Regresión lineal con NumPy · Gradiente descendente · Regresión logística binaria · Evaluación de modelos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2743200"/>
            <a:ext cx="64008" cy="128016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274320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Módulo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361188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CCCCDD"/>
                </a:solidFill>
                <a:latin typeface="Calibri"/>
              </a:rPr>
              <a:t>El arreglo · Geometría · Creación · Tipos · Indexación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DD"/>
                </a:solidFill>
                <a:latin typeface="Calibri"/>
              </a:rPr>
              <a:t>Análisis de Datos con Python · 4° año ICM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88952" cy="381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2471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NumPy es la base de todo el ecosistema científico de Python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12700"/>
          </a:xfrm>
          <a:prstGeom prst="rect">
            <a:avLst/>
          </a:prstGeom>
          <a:solidFill>
            <a:srgbClr val="CC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379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DD"/>
                </a:solidFill>
                <a:latin typeface="Calibri"/>
              </a:rPr>
              <a:t>Análisis de Datos con Python · 4° año ICM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914400"/>
            <a:ext cx="11430000" cy="777240"/>
          </a:xfrm>
          <a:prstGeom prst="rect">
            <a:avLst/>
          </a:prstGeom>
          <a:solidFill>
            <a:srgbClr val="FF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914400"/>
            <a:ext cx="63500" cy="77724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96012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94560"/>
                </a:solidFill>
                <a:latin typeface="Calibri"/>
              </a:rPr>
              <a:t>Idea central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207008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444455"/>
                </a:solidFill>
                <a:latin typeface="Calibri"/>
              </a:rPr>
              <a:t>NumPy (Numerical Python) introduce el ndarray: una estructura para representar vectores, matrices y tensores, ejecutar operaciones vectorizadas con gran eficiencia y servir de fundamento al ecosistema completo de ciencia de datos en Python.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8288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3460"/>
                </a:solidFill>
                <a:latin typeface="Calibri"/>
              </a:rPr>
              <a:t>Librerías construidas sobre NumPy: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194560"/>
            <a:ext cx="54864" cy="256032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19456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55"/>
                </a:solidFill>
                <a:latin typeface="Calibri"/>
              </a:rPr>
              <a:t>Pandas  —  Análisis tabular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542032"/>
            <a:ext cx="54864" cy="256032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2542032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55"/>
                </a:solidFill>
                <a:latin typeface="Calibri"/>
              </a:rPr>
              <a:t>Matplotlib  —  Visualización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889504"/>
            <a:ext cx="54864" cy="256032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2889504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55"/>
                </a:solidFill>
                <a:latin typeface="Calibri"/>
              </a:rPr>
              <a:t>SciPy  —  Computación científica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236976"/>
            <a:ext cx="54864" cy="256032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236976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55"/>
                </a:solidFill>
                <a:latin typeface="Calibri"/>
              </a:rPr>
              <a:t>Scikit-Learn  —  Machine Learning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584448"/>
            <a:ext cx="54864" cy="256032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3584448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55"/>
                </a:solidFill>
                <a:latin typeface="Calibri"/>
              </a:rPr>
              <a:t>PyTorch  —  Deep Learning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18288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3460"/>
                </a:solidFill>
                <a:latin typeface="Calibri"/>
              </a:rPr>
              <a:t>Instalación e importación: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0" y="2194560"/>
            <a:ext cx="5303520" cy="1188720"/>
          </a:xfrm>
          <a:prstGeom prst="rect">
            <a:avLst/>
          </a:prstGeom>
          <a:solidFill>
            <a:srgbClr val="F0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00800" y="2194560"/>
            <a:ext cx="50800" cy="118872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37960" y="2267712"/>
            <a:ext cx="5120640" cy="10789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1A1A2E"/>
                </a:solidFill>
                <a:latin typeface="Courier New"/>
              </a:rPr>
              <a:t>pip install numpy</a:t>
            </a:r>
          </a:p>
          <a:p>
            <a:r>
              <a:rPr sz="1300">
                <a:solidFill>
                  <a:srgbClr val="1A1A2E"/>
                </a:solidFill>
                <a:latin typeface="Courier New"/>
              </a:rPr>
              <a:t/>
            </a:r>
          </a:p>
          <a:p>
            <a:r>
              <a:rPr sz="1300">
                <a:solidFill>
                  <a:srgbClr val="1A1A2E"/>
                </a:solidFill>
                <a:latin typeface="Courier New"/>
              </a:rPr>
              <a:t>import numpy as np</a:t>
            </a:r>
          </a:p>
          <a:p>
            <a:r>
              <a:rPr sz="1300">
                <a:solidFill>
                  <a:srgbClr val="1A1A2E"/>
                </a:solidFill>
                <a:latin typeface="Courier New"/>
              </a:rPr>
              <a:t># El alias 'np' es convención universal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5760720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444455"/>
                </a:solidFill>
                <a:latin typeface="Calibri"/>
              </a:rPr>
              <a:t>Entender NumPy no es aprender una librería. Es construir el vocabulario
mínimo del análisis moderno de datos en Python.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88952" cy="381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2471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El ndarray: una grilla de valores con geometría bien definida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12700"/>
          </a:xfrm>
          <a:prstGeom prst="rect">
            <a:avLst/>
          </a:prstGeom>
          <a:solidFill>
            <a:srgbClr val="CC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379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DD"/>
                </a:solidFill>
                <a:latin typeface="Calibri"/>
              </a:rPr>
              <a:t>Análisis de Datos con Python · 4° año ICM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96012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3460"/>
                </a:solidFill>
                <a:latin typeface="Calibri"/>
              </a:rPr>
              <a:t>El arreglo es el elemento central de NumPy: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389888"/>
            <a:ext cx="109728" cy="109728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32588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55"/>
                </a:solidFill>
                <a:latin typeface="Calibri"/>
              </a:rPr>
              <a:t>Un único tipo de dato (todos float64, o todos int32, etc.)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719072"/>
            <a:ext cx="109728" cy="109728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655064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55"/>
                </a:solidFill>
                <a:latin typeface="Calibri"/>
              </a:rPr>
              <a:t>Una geometría determinada por sus ejes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048256"/>
            <a:ext cx="109728" cy="109728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1984248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55"/>
                </a:solidFill>
                <a:latin typeface="Calibri"/>
              </a:rPr>
              <a:t>Soporte nativo para operaciones vectorizadas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242316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3460"/>
                </a:solidFill>
                <a:latin typeface="Calibri"/>
              </a:rPr>
              <a:t>Los arreglos representan objetos matemáticos familiares: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788920"/>
            <a:ext cx="5029200" cy="29260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283464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Dims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283464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Objeto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283464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Geometría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081528"/>
            <a:ext cx="5029200" cy="292608"/>
          </a:xfrm>
          <a:prstGeom prst="rect">
            <a:avLst/>
          </a:prstGeom>
          <a:solidFill>
            <a:srgbClr val="F4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3145536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55"/>
                </a:solidFill>
                <a:latin typeface="Calibri"/>
              </a:rPr>
              <a:t>1D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3145536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55"/>
                </a:solidFill>
                <a:latin typeface="Calibri"/>
              </a:rPr>
              <a:t>Vector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74720" y="3145536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3460"/>
                </a:solidFill>
                <a:latin typeface="Calibri"/>
              </a:rPr>
              <a:t>(n,)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3374136"/>
            <a:ext cx="502920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3438144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55"/>
                </a:solidFill>
                <a:latin typeface="Calibri"/>
              </a:rPr>
              <a:t>2D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3438144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55"/>
                </a:solidFill>
                <a:latin typeface="Calibri"/>
              </a:rPr>
              <a:t>Matriz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74720" y="3438144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3460"/>
                </a:solidFill>
                <a:latin typeface="Calibri"/>
              </a:rPr>
              <a:t>(n, d)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3666744"/>
            <a:ext cx="5029200" cy="292608"/>
          </a:xfrm>
          <a:prstGeom prst="rect">
            <a:avLst/>
          </a:prstGeom>
          <a:solidFill>
            <a:srgbClr val="F4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3730752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55"/>
                </a:solidFill>
                <a:latin typeface="Calibri"/>
              </a:rPr>
              <a:t>3D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71600" y="373075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55"/>
                </a:solidFill>
                <a:latin typeface="Calibri"/>
              </a:rPr>
              <a:t>Tensor ord. 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74720" y="3730752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3460"/>
                </a:solidFill>
                <a:latin typeface="Calibri"/>
              </a:rPr>
              <a:t>(k, n, d)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035040" y="960120"/>
            <a:ext cx="5760720" cy="2377440"/>
          </a:xfrm>
          <a:prstGeom prst="rect">
            <a:avLst/>
          </a:prstGeom>
          <a:solidFill>
            <a:srgbClr val="F0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35040" y="960120"/>
            <a:ext cx="50800" cy="237744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72200" y="1033272"/>
            <a:ext cx="5577840" cy="22677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1A1A2E"/>
                </a:solidFill>
                <a:latin typeface="Courier New"/>
              </a:rPr>
              <a:t>x = np.array([-1, 1, 5, -8, 2])        # Vector  shape: (5,)</a:t>
            </a:r>
          </a:p>
          <a:p>
            <a:r>
              <a:rPr sz="1200">
                <a:solidFill>
                  <a:srgbClr val="1A1A2E"/>
                </a:solidFill>
                <a:latin typeface="Courier New"/>
              </a:rPr>
              <a:t>u = np.array([[-1, 1, 5, -8, 2]])       # M. fila shape: (1, 5)</a:t>
            </a:r>
          </a:p>
          <a:p>
            <a:r>
              <a:rPr sz="1200">
                <a:solidFill>
                  <a:srgbClr val="1A1A2E"/>
                </a:solidFill>
                <a:latin typeface="Courier New"/>
              </a:rPr>
              <a:t>w = np.array([[-1],[ 1],[ 5],[-8],[2]]) # M. col  shape: (5, 1)</a:t>
            </a:r>
          </a:p>
          <a:p>
            <a:r>
              <a:rPr sz="1200">
                <a:solidFill>
                  <a:srgbClr val="1A1A2E"/>
                </a:solidFill>
                <a:latin typeface="Courier New"/>
              </a:rPr>
              <a:t/>
            </a:r>
          </a:p>
          <a:p>
            <a:r>
              <a:rPr sz="1200">
                <a:solidFill>
                  <a:srgbClr val="1A1A2E"/>
                </a:solidFill>
                <a:latin typeface="Courier New"/>
              </a:rPr>
              <a:t>A = np.array([                           # Matriz  shape: (4, 4)</a:t>
            </a:r>
          </a:p>
          <a:p>
            <a:r>
              <a:rPr sz="1200">
                <a:solidFill>
                  <a:srgbClr val="1A1A2E"/>
                </a:solidFill>
                <a:latin typeface="Courier New"/>
              </a:rPr>
              <a:t>    [-2,  1, -7,  6],</a:t>
            </a:r>
          </a:p>
          <a:p>
            <a:r>
              <a:rPr sz="1200">
                <a:solidFill>
                  <a:srgbClr val="1A1A2E"/>
                </a:solidFill>
                <a:latin typeface="Courier New"/>
              </a:rPr>
              <a:t>    [ 1,  3,  1, -4],</a:t>
            </a:r>
          </a:p>
          <a:p>
            <a:r>
              <a:rPr sz="1200">
                <a:solidFill>
                  <a:srgbClr val="1A1A2E"/>
                </a:solidFill>
                <a:latin typeface="Courier New"/>
              </a:rPr>
              <a:t>])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035040" y="3474720"/>
            <a:ext cx="5760720" cy="685800"/>
          </a:xfrm>
          <a:prstGeom prst="rect">
            <a:avLst/>
          </a:prstGeom>
          <a:solidFill>
            <a:srgbClr val="FEF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035040" y="3474720"/>
            <a:ext cx="63500" cy="6858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172200" y="3520440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67E22"/>
                </a:solidFill>
                <a:latin typeface="Calibri"/>
              </a:rPr>
              <a:t>¡Atención!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72200" y="3767328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444455"/>
                </a:solidFill>
                <a:latin typeface="Calibri"/>
              </a:rPr>
              <a:t>Un arreglo 1D (5,) NO es una matriz fila (1, 5). Son objetos distintos con reglas distintas.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5760" y="4069080"/>
            <a:ext cx="5303520" cy="685800"/>
          </a:xfrm>
          <a:prstGeom prst="rect">
            <a:avLst/>
          </a:prstGeom>
          <a:solidFill>
            <a:srgbClr val="FF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65760" y="4069080"/>
            <a:ext cx="63500" cy="6858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2920" y="411480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94560"/>
                </a:solidFill>
                <a:latin typeface="Calibri"/>
              </a:rPr>
              <a:t>Restricción clave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2920" y="4361688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444455"/>
                </a:solidFill>
                <a:latin typeface="Calibri"/>
              </a:rPr>
              <a:t>Un arreglo solo puede contener datos de UN único tipo. No se permiten mezclas.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88952" cy="381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2471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Los ejes de un arreglo: el sistema de referencia interno de NumPy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12700"/>
          </a:xfrm>
          <a:prstGeom prst="rect">
            <a:avLst/>
          </a:prstGeom>
          <a:solidFill>
            <a:srgbClr val="CC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379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DD"/>
                </a:solidFill>
                <a:latin typeface="Calibri"/>
              </a:rPr>
              <a:t>Análisis de Datos con Python · 4° año ICM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960120"/>
            <a:ext cx="11430000" cy="777240"/>
          </a:xfrm>
          <a:prstGeom prst="rect">
            <a:avLst/>
          </a:prstGeom>
          <a:solidFill>
            <a:srgbClr val="FF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960120"/>
            <a:ext cx="63500" cy="77724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00584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94560"/>
                </a:solidFill>
                <a:latin typeface="Calibri"/>
              </a:rPr>
              <a:t>Idea clave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252728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444455"/>
                </a:solidFill>
                <a:latin typeface="Calibri"/>
              </a:rPr>
              <a:t>Los ejes (axis) son las direcciones a lo largo de las cuales NumPy opera. El eje 0 recorre las filas; el eje 1 recorre las columnas. Toda operación de agregación depende de este concepto.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920240"/>
            <a:ext cx="5303520" cy="2560320"/>
          </a:xfrm>
          <a:prstGeom prst="rect">
            <a:avLst/>
          </a:prstGeom>
          <a:solidFill>
            <a:srgbClr val="F4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965960"/>
            <a:ext cx="502920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ourier New"/>
              </a:rPr>
              <a:t>               axis=1 →
         ┌──────────────┐
  axis=0 │  a   b   c   │
    ↓    │  d   e   f   │
         │  g   h   i   │
         └──────────────┘
 A.sum(axis=1) → suma por filas
 A.sum(axis=0) → suma por columnas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35040" y="1920240"/>
            <a:ext cx="5760720" cy="2606040"/>
          </a:xfrm>
          <a:prstGeom prst="rect">
            <a:avLst/>
          </a:prstGeom>
          <a:solidFill>
            <a:srgbClr val="F0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35040" y="1920240"/>
            <a:ext cx="50800" cy="260604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72200" y="1993392"/>
            <a:ext cx="5577840" cy="2496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1A1A2E"/>
                </a:solidFill>
                <a:latin typeface="Courier New"/>
              </a:rPr>
              <a:t>A = np.array([</a:t>
            </a:r>
          </a:p>
          <a:p>
            <a:r>
              <a:rPr sz="1100">
                <a:solidFill>
                  <a:srgbClr val="1A1A2E"/>
                </a:solidFill>
                <a:latin typeface="Courier New"/>
              </a:rPr>
              <a:t>    [-2, 1, -7, 6],</a:t>
            </a:r>
          </a:p>
          <a:p>
            <a:r>
              <a:rPr sz="1100">
                <a:solidFill>
                  <a:srgbClr val="1A1A2E"/>
                </a:solidFill>
                <a:latin typeface="Courier New"/>
              </a:rPr>
              <a:t>    [ 1, 3,  1,-4],</a:t>
            </a:r>
          </a:p>
          <a:p>
            <a:r>
              <a:rPr sz="1100">
                <a:solidFill>
                  <a:srgbClr val="1A1A2E"/>
                </a:solidFill>
                <a:latin typeface="Courier New"/>
              </a:rPr>
              <a:t>    [-5,-5,  0, 4],</a:t>
            </a:r>
          </a:p>
          <a:p>
            <a:r>
              <a:rPr sz="1100">
                <a:solidFill>
                  <a:srgbClr val="1A1A2E"/>
                </a:solidFill>
                <a:latin typeface="Courier New"/>
              </a:rPr>
              <a:t>    [-9, 2, -8, 9]</a:t>
            </a:r>
          </a:p>
          <a:p>
            <a:r>
              <a:rPr sz="1100">
                <a:solidFill>
                  <a:srgbClr val="1A1A2E"/>
                </a:solidFill>
                <a:latin typeface="Courier New"/>
              </a:rPr>
              <a:t>])</a:t>
            </a:r>
          </a:p>
          <a:p>
            <a:r>
              <a:rPr sz="1100">
                <a:solidFill>
                  <a:srgbClr val="1A1A2E"/>
                </a:solidFill>
                <a:latin typeface="Courier New"/>
              </a:rPr>
              <a:t/>
            </a:r>
          </a:p>
          <a:p>
            <a:r>
              <a:rPr sz="1100">
                <a:solidFill>
                  <a:srgbClr val="1A1A2E"/>
                </a:solidFill>
                <a:latin typeface="Courier New"/>
              </a:rPr>
              <a:t>A.sum(axis=1)   # suma por filas → [-2, 1, -6, -6]</a:t>
            </a:r>
          </a:p>
          <a:p>
            <a:r>
              <a:rPr sz="1100">
                <a:solidFill>
                  <a:srgbClr val="1A1A2E"/>
                </a:solidFill>
                <a:latin typeface="Courier New"/>
              </a:rPr>
              <a:t>A.sum(axis=0)   # suma por cols  → [-15, 1, -14, 15]</a:t>
            </a:r>
          </a:p>
          <a:p>
            <a:r>
              <a:rPr sz="1100">
                <a:solidFill>
                  <a:srgbClr val="1A1A2E"/>
                </a:solidFill>
                <a:latin typeface="Courier New"/>
              </a:rPr>
              <a:t/>
            </a:r>
          </a:p>
          <a:p>
            <a:r>
              <a:rPr sz="1100">
                <a:solidFill>
                  <a:srgbClr val="1A1A2E"/>
                </a:solidFill>
                <a:latin typeface="Courier New"/>
              </a:rPr>
              <a:t># Concatenar dos arreglos compatibles</a:t>
            </a:r>
          </a:p>
          <a:p>
            <a:r>
              <a:rPr sz="1100">
                <a:solidFill>
                  <a:srgbClr val="1A1A2E"/>
                </a:solidFill>
                <a:latin typeface="Courier New"/>
              </a:rPr>
              <a:t>B = np.array([[-1,4,5,-8],[0,-5,6,-9]])</a:t>
            </a:r>
          </a:p>
          <a:p>
            <a:r>
              <a:rPr sz="1100">
                <a:solidFill>
                  <a:srgbClr val="1A1A2E"/>
                </a:solidFill>
                <a:latin typeface="Courier New"/>
              </a:rPr>
              <a:t>np.concatenate([A, B], axis=0)  # apila filas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4663440"/>
            <a:ext cx="11430000" cy="777240"/>
          </a:xfrm>
          <a:prstGeom prst="rect">
            <a:avLst/>
          </a:prstGeom>
          <a:solidFill>
            <a:srgbClr val="F0F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5760" y="4663440"/>
            <a:ext cx="63500" cy="777240"/>
          </a:xfrm>
          <a:prstGeom prst="rect">
            <a:avLst/>
          </a:prstGeom>
          <a:solidFill>
            <a:srgbClr val="1D9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470916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D9A6C"/>
                </a:solidFill>
                <a:latin typeface="Calibri"/>
              </a:rPr>
              <a:t>Regla práctica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956048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444455"/>
                </a:solidFill>
                <a:latin typeface="Calibri"/>
              </a:rPr>
              <a:t>Forma de pensar axis: 'aplastar el arreglo en la dirección del eje especificado'. axis=0 colapsa filas → resultado por columna. axis=1 colapsa columnas → resultado por fila.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88952" cy="381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2471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Atributos esenciales y tipos de datos de un arreglo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12700"/>
          </a:xfrm>
          <a:prstGeom prst="rect">
            <a:avLst/>
          </a:prstGeom>
          <a:solidFill>
            <a:srgbClr val="CC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379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DD"/>
                </a:solidFill>
                <a:latin typeface="Calibri"/>
              </a:rPr>
              <a:t>Análisis de Datos con Python · 4° año ICM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960120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3460"/>
                </a:solidFill>
                <a:latin typeface="Calibri"/>
              </a:rPr>
              <a:t>Atributos del ndarray: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280160"/>
            <a:ext cx="5303520" cy="29260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344168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Atributo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1344168"/>
            <a:ext cx="3566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Descripción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572768"/>
            <a:ext cx="5303520" cy="274320"/>
          </a:xfrm>
          <a:prstGeom prst="rect">
            <a:avLst/>
          </a:prstGeom>
          <a:solidFill>
            <a:srgbClr val="F4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618488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3460"/>
                </a:solidFill>
                <a:latin typeface="Courier New"/>
              </a:rPr>
              <a:t>.ndim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1618488"/>
            <a:ext cx="3566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55"/>
                </a:solidFill>
                <a:latin typeface="Calibri"/>
              </a:rPr>
              <a:t>Número de dimensiones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1847088"/>
            <a:ext cx="530352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1892808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3460"/>
                </a:solidFill>
                <a:latin typeface="Courier New"/>
              </a:rPr>
              <a:t>.shape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0240" y="1892808"/>
            <a:ext cx="3566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55"/>
                </a:solidFill>
                <a:latin typeface="Calibri"/>
              </a:rPr>
              <a:t>Geometría: (filas, cols, ...)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2121408"/>
            <a:ext cx="5303520" cy="274320"/>
          </a:xfrm>
          <a:prstGeom prst="rect">
            <a:avLst/>
          </a:prstGeom>
          <a:solidFill>
            <a:srgbClr val="F4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2167128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3460"/>
                </a:solidFill>
                <a:latin typeface="Courier New"/>
              </a:rPr>
              <a:t>.size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20240" y="2167128"/>
            <a:ext cx="3566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55"/>
                </a:solidFill>
                <a:latin typeface="Calibri"/>
              </a:rPr>
              <a:t>Total de elementos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2395728"/>
            <a:ext cx="530352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2441448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3460"/>
                </a:solidFill>
                <a:latin typeface="Courier New"/>
              </a:rPr>
              <a:t>.dtype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20240" y="2441448"/>
            <a:ext cx="3566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55"/>
                </a:solidFill>
                <a:latin typeface="Calibri"/>
              </a:rPr>
              <a:t>Tipo de dato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2670048"/>
            <a:ext cx="5303520" cy="274320"/>
          </a:xfrm>
          <a:prstGeom prst="rect">
            <a:avLst/>
          </a:prstGeom>
          <a:solidFill>
            <a:srgbClr val="F4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2715768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3460"/>
                </a:solidFill>
                <a:latin typeface="Courier New"/>
              </a:rPr>
              <a:t>.itemsize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20240" y="2715768"/>
            <a:ext cx="3566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55"/>
                </a:solidFill>
                <a:latin typeface="Calibri"/>
              </a:rPr>
              <a:t>Bytes por elemento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944368"/>
            <a:ext cx="530352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2990088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3460"/>
                </a:solidFill>
                <a:latin typeface="Courier New"/>
              </a:rPr>
              <a:t>.nbytes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20240" y="2990088"/>
            <a:ext cx="3566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55"/>
                </a:solidFill>
                <a:latin typeface="Calibri"/>
              </a:rPr>
              <a:t>Bytes totales = size × itemsize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35040" y="960120"/>
            <a:ext cx="5760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3460"/>
                </a:solidFill>
                <a:latin typeface="Calibri"/>
              </a:rPr>
              <a:t>Tipos de datos clave (dtype):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35040" y="1280160"/>
            <a:ext cx="5760720" cy="29260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26480" y="1344168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Tipo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0" y="1344168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Descripción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035040" y="1572768"/>
            <a:ext cx="5760720" cy="274320"/>
          </a:xfrm>
          <a:prstGeom prst="rect">
            <a:avLst/>
          </a:prstGeom>
          <a:solidFill>
            <a:srgbClr val="F4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26480" y="1618488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3460"/>
                </a:solidFill>
                <a:latin typeface="Courier New"/>
              </a:rPr>
              <a:t>bool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80" y="1618488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55"/>
                </a:solidFill>
                <a:latin typeface="Calibri"/>
              </a:rPr>
              <a:t>True / False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35040" y="1847088"/>
            <a:ext cx="576072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26480" y="1892808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3460"/>
                </a:solidFill>
                <a:latin typeface="Courier New"/>
              </a:rPr>
              <a:t>int8/16/32/64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12480" y="1892808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55"/>
                </a:solidFill>
                <a:latin typeface="Calibri"/>
              </a:rPr>
              <a:t>Entero con signo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035040" y="2121408"/>
            <a:ext cx="5760720" cy="274320"/>
          </a:xfrm>
          <a:prstGeom prst="rect">
            <a:avLst/>
          </a:prstGeom>
          <a:solidFill>
            <a:srgbClr val="F4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126480" y="2167128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3460"/>
                </a:solidFill>
                <a:latin typeface="Courier New"/>
              </a:rPr>
              <a:t>uint8/16/32/64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12480" y="2167128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55"/>
                </a:solidFill>
                <a:latin typeface="Calibri"/>
              </a:rPr>
              <a:t>Entero sin signo (≥0)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035040" y="2395728"/>
            <a:ext cx="576072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26480" y="2441448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3460"/>
                </a:solidFill>
                <a:latin typeface="Courier New"/>
              </a:rPr>
              <a:t>float32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412480" y="2441448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55"/>
                </a:solidFill>
                <a:latin typeface="Calibri"/>
              </a:rPr>
              <a:t>Precisión simple (~7 dígitos)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035040" y="2670048"/>
            <a:ext cx="5760720" cy="274320"/>
          </a:xfrm>
          <a:prstGeom prst="rect">
            <a:avLst/>
          </a:prstGeom>
          <a:solidFill>
            <a:srgbClr val="F4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126480" y="2715768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3460"/>
                </a:solidFill>
                <a:latin typeface="Courier New"/>
              </a:rPr>
              <a:t>float64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12480" y="2715768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55"/>
                </a:solidFill>
                <a:latin typeface="Calibri"/>
              </a:rPr>
              <a:t>Precisión doble (~15 dígitos) ✓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035040" y="2944368"/>
            <a:ext cx="576072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126480" y="2990088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3460"/>
                </a:solidFill>
                <a:latin typeface="Courier New"/>
              </a:rPr>
              <a:t>complex128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412480" y="2990088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55"/>
                </a:solidFill>
                <a:latin typeface="Calibri"/>
              </a:rPr>
              <a:t>Dos float64 (números complejos)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65760" y="3767328"/>
            <a:ext cx="5303520" cy="1828800"/>
          </a:xfrm>
          <a:prstGeom prst="rect">
            <a:avLst/>
          </a:prstGeom>
          <a:solidFill>
            <a:srgbClr val="F0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365760" y="3767328"/>
            <a:ext cx="50800" cy="18288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02920" y="3840480"/>
            <a:ext cx="5120640" cy="17190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1A1A2E"/>
                </a:solidFill>
                <a:latin typeface="Courier New"/>
              </a:rPr>
              <a:t>x2 = rng.integers(0, 10, size=(3, 4))</a:t>
            </a:r>
          </a:p>
          <a:p>
            <a:r>
              <a:rPr sz="1200">
                <a:solidFill>
                  <a:srgbClr val="1A1A2E"/>
                </a:solidFill>
                <a:latin typeface="Courier New"/>
              </a:rPr>
              <a:t>x2.ndim      # 2</a:t>
            </a:r>
          </a:p>
          <a:p>
            <a:r>
              <a:rPr sz="1200">
                <a:solidFill>
                  <a:srgbClr val="1A1A2E"/>
                </a:solidFill>
                <a:latin typeface="Courier New"/>
              </a:rPr>
              <a:t>x2.shape     # (3, 4)</a:t>
            </a:r>
          </a:p>
          <a:p>
            <a:r>
              <a:rPr sz="1200">
                <a:solidFill>
                  <a:srgbClr val="1A1A2E"/>
                </a:solidFill>
                <a:latin typeface="Courier New"/>
              </a:rPr>
              <a:t>x2.size      # 12</a:t>
            </a:r>
          </a:p>
          <a:p>
            <a:r>
              <a:rPr sz="1200">
                <a:solidFill>
                  <a:srgbClr val="1A1A2E"/>
                </a:solidFill>
                <a:latin typeface="Courier New"/>
              </a:rPr>
              <a:t>x2.dtype     # int64</a:t>
            </a:r>
          </a:p>
          <a:p>
            <a:r>
              <a:rPr sz="1200">
                <a:solidFill>
                  <a:srgbClr val="1A1A2E"/>
                </a:solidFill>
                <a:latin typeface="Courier New"/>
              </a:rPr>
              <a:t>x2.itemsize  # 8 bytes</a:t>
            </a:r>
          </a:p>
          <a:p>
            <a:r>
              <a:rPr sz="1200">
                <a:solidFill>
                  <a:srgbClr val="1A1A2E"/>
                </a:solidFill>
                <a:latin typeface="Courier New"/>
              </a:rPr>
              <a:t>x2.nbytes    # 96 (= 12 × 8)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035040" y="3767328"/>
            <a:ext cx="5760720" cy="731520"/>
          </a:xfrm>
          <a:prstGeom prst="rect">
            <a:avLst/>
          </a:prstGeom>
          <a:solidFill>
            <a:srgbClr val="FEF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035040" y="3767328"/>
            <a:ext cx="63500" cy="7315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172200" y="3813048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67E22"/>
                </a:solidFill>
                <a:latin typeface="Calibri"/>
              </a:rPr>
              <a:t>¡Atención!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172200" y="4059936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444455"/>
                </a:solidFill>
                <a:latin typeface="Calibri"/>
              </a:rPr>
              <a:t>Si insertas un float en un arreglo int, NumPy trunca silenciosamente el valor. Ejemplo: x[2] = 3.99 guarda 3, no 4.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88952" cy="381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2471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Rutinas de creación: construir arreglos sin ingresar cada valor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12700"/>
          </a:xfrm>
          <a:prstGeom prst="rect">
            <a:avLst/>
          </a:prstGeom>
          <a:solidFill>
            <a:srgbClr val="CC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379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DD"/>
                </a:solidFill>
                <a:latin typeface="Calibri"/>
              </a:rPr>
              <a:t>Análisis de Datos con Python · 4° año ICM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960120"/>
            <a:ext cx="5486400" cy="1417320"/>
          </a:xfrm>
          <a:prstGeom prst="rect">
            <a:avLst/>
          </a:prstGeom>
          <a:solidFill>
            <a:srgbClr val="F0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960120"/>
            <a:ext cx="50800" cy="141732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033272"/>
            <a:ext cx="5303520" cy="1307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1A1A2E"/>
                </a:solidFill>
                <a:latin typeface="Courier New"/>
              </a:rPr>
              <a:t># Arreglos constantes</a:t>
            </a:r>
          </a:p>
          <a:p>
            <a:r>
              <a:rPr sz="1100">
                <a:solidFill>
                  <a:srgbClr val="1A1A2E"/>
                </a:solidFill>
                <a:latin typeface="Courier New"/>
              </a:rPr>
              <a:t>np.zeros(8)                      # [0. 0. 0. 0. 0. 0. 0. 0.]</a:t>
            </a:r>
          </a:p>
          <a:p>
            <a:r>
              <a:rPr sz="1100">
                <a:solidFill>
                  <a:srgbClr val="1A1A2E"/>
                </a:solidFill>
                <a:latin typeface="Courier New"/>
              </a:rPr>
              <a:t>np.zeros((5, 4))                 # Matriz 5×4 de ceros</a:t>
            </a:r>
          </a:p>
          <a:p>
            <a:r>
              <a:rPr sz="1100">
                <a:solidFill>
                  <a:srgbClr val="1A1A2E"/>
                </a:solidFill>
                <a:latin typeface="Courier New"/>
              </a:rPr>
              <a:t>np.ones((4, 6), dtype=int)       # Matriz 4×6 de unos enteros</a:t>
            </a:r>
          </a:p>
          <a:p>
            <a:r>
              <a:rPr sz="1100">
                <a:solidFill>
                  <a:srgbClr val="1A1A2E"/>
                </a:solidFill>
                <a:latin typeface="Courier New"/>
              </a:rPr>
              <a:t>np.full((5, 5), fill_value=9)    # Matriz 5×5 llena con 9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468880"/>
            <a:ext cx="5486400" cy="1280160"/>
          </a:xfrm>
          <a:prstGeom prst="rect">
            <a:avLst/>
          </a:prstGeom>
          <a:solidFill>
            <a:srgbClr val="F0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2468880"/>
            <a:ext cx="50800" cy="128016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542032"/>
            <a:ext cx="5303520" cy="11704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1A1A2E"/>
                </a:solidFill>
                <a:latin typeface="Courier New"/>
              </a:rPr>
              <a:t># Matrices diagonales</a:t>
            </a:r>
          </a:p>
          <a:p>
            <a:r>
              <a:rPr sz="1100">
                <a:solidFill>
                  <a:srgbClr val="1A1A2E"/>
                </a:solidFill>
                <a:latin typeface="Courier New"/>
              </a:rPr>
              <a:t>np.eye(N=5, M=6, k=0)   # diagonal reducida (1s en diag principal)</a:t>
            </a:r>
          </a:p>
          <a:p>
            <a:r>
              <a:rPr sz="1100">
                <a:solidFill>
                  <a:srgbClr val="1A1A2E"/>
                </a:solidFill>
                <a:latin typeface="Courier New"/>
              </a:rPr>
              <a:t>np.eye(N=4, M=8, k=1)   # k&gt;0: diagonal superior</a:t>
            </a:r>
          </a:p>
          <a:p>
            <a:r>
              <a:rPr sz="1100">
                <a:solidFill>
                  <a:srgbClr val="1A1A2E"/>
                </a:solidFill>
                <a:latin typeface="Courier New"/>
              </a:rPr>
              <a:t>np.identity(n=6)         # matriz identidad cuadrada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35040" y="960120"/>
            <a:ext cx="5760720" cy="1691640"/>
          </a:xfrm>
          <a:prstGeom prst="rect">
            <a:avLst/>
          </a:prstGeom>
          <a:solidFill>
            <a:srgbClr val="F0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35040" y="960120"/>
            <a:ext cx="50800" cy="169164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72200" y="1033272"/>
            <a:ext cx="5577840" cy="1581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1A1A2E"/>
                </a:solidFill>
                <a:latin typeface="Courier New"/>
              </a:rPr>
              <a:t># Rangos</a:t>
            </a:r>
          </a:p>
          <a:p>
            <a:r>
              <a:rPr sz="1100">
                <a:solidFill>
                  <a:srgbClr val="1A1A2E"/>
                </a:solidFill>
                <a:latin typeface="Courier New"/>
              </a:rPr>
              <a:t>np.arange(start=1, stop=20, step=2)     # [1,3,5,...,19]</a:t>
            </a:r>
          </a:p>
          <a:p>
            <a:r>
              <a:rPr sz="1100">
                <a:solidFill>
                  <a:srgbClr val="1A1A2E"/>
                </a:solidFill>
                <a:latin typeface="Courier New"/>
              </a:rPr>
              <a:t>np.arange(start=100, stop=0, step=-10)  # [100,90,...,10]</a:t>
            </a:r>
          </a:p>
          <a:p>
            <a:r>
              <a:rPr sz="1100">
                <a:solidFill>
                  <a:srgbClr val="1A1A2E"/>
                </a:solidFill>
                <a:latin typeface="Courier New"/>
              </a:rPr>
              <a:t/>
            </a:r>
          </a:p>
          <a:p>
            <a:r>
              <a:rPr sz="1100">
                <a:solidFill>
                  <a:srgbClr val="1A1A2E"/>
                </a:solidFill>
                <a:latin typeface="Courier New"/>
              </a:rPr>
              <a:t># Intervalo con número de puntos fijo</a:t>
            </a:r>
          </a:p>
          <a:p>
            <a:r>
              <a:rPr sz="1100">
                <a:solidFill>
                  <a:srgbClr val="1A1A2E"/>
                </a:solidFill>
                <a:latin typeface="Courier New"/>
              </a:rPr>
              <a:t>np.linspace(start=0, stop=1, num=5)     # [0, .25, .5, .75, 1.0]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35040" y="2743200"/>
            <a:ext cx="5760720" cy="1828800"/>
          </a:xfrm>
          <a:prstGeom prst="rect">
            <a:avLst/>
          </a:prstGeom>
          <a:solidFill>
            <a:srgbClr val="F0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35040" y="2743200"/>
            <a:ext cx="50800" cy="18288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72200" y="2816352"/>
            <a:ext cx="5577840" cy="17190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1A1A2E"/>
                </a:solidFill>
                <a:latin typeface="Courier New"/>
              </a:rPr>
              <a:t># Grillas para evaluar f(x,y)</a:t>
            </a:r>
          </a:p>
          <a:p>
            <a:r>
              <a:rPr sz="1100">
                <a:solidFill>
                  <a:srgbClr val="1A1A2E"/>
                </a:solidFill>
                <a:latin typeface="Courier New"/>
              </a:rPr>
              <a:t>x = np.linspace(-3, 3, 100)</a:t>
            </a:r>
          </a:p>
          <a:p>
            <a:r>
              <a:rPr sz="1100">
                <a:solidFill>
                  <a:srgbClr val="1A1A2E"/>
                </a:solidFill>
                <a:latin typeface="Courier New"/>
              </a:rPr>
              <a:t>y = np.linspace(-3, 3, 100)</a:t>
            </a:r>
          </a:p>
          <a:p>
            <a:r>
              <a:rPr sz="1100">
                <a:solidFill>
                  <a:srgbClr val="1A1A2E"/>
                </a:solidFill>
                <a:latin typeface="Courier New"/>
              </a:rPr>
              <a:t>X, Y = np.meshgrid(x, y, indexing='ij')</a:t>
            </a:r>
          </a:p>
          <a:p>
            <a:r>
              <a:rPr sz="1100">
                <a:solidFill>
                  <a:srgbClr val="1A1A2E"/>
                </a:solidFill>
                <a:latin typeface="Courier New"/>
              </a:rPr>
              <a:t># X, Y: shape (100, 100)</a:t>
            </a:r>
          </a:p>
          <a:p>
            <a:r>
              <a:rPr sz="1100">
                <a:solidFill>
                  <a:srgbClr val="1A1A2E"/>
                </a:solidFill>
                <a:latin typeface="Courier New"/>
              </a:rPr>
              <a:t/>
            </a:r>
          </a:p>
          <a:p>
            <a:r>
              <a:rPr sz="1100">
                <a:solidFill>
                  <a:srgbClr val="1A1A2E"/>
                </a:solidFill>
                <a:latin typeface="Courier New"/>
              </a:rPr>
              <a:t>Z = np.exp(-(X**2 + Y**2))  # evaluación vectorizada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840480"/>
            <a:ext cx="5394960" cy="685800"/>
          </a:xfrm>
          <a:prstGeom prst="rect">
            <a:avLst/>
          </a:prstGeom>
          <a:solidFill>
            <a:srgbClr val="FEF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5760" y="3840480"/>
            <a:ext cx="63500" cy="6858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388620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67E22"/>
                </a:solidFill>
                <a:latin typeface="Calibri"/>
              </a:rPr>
              <a:t>arange vs linspace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4133088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444455"/>
                </a:solidFill>
                <a:latin typeface="Calibri"/>
              </a:rPr>
              <a:t>arange NO incluye el valor stop. linspace SÍ lo incluye. Error frecuente al construir rangos.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88952" cy="381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2471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Generación de números pseudoaleatorios: reproducibilidad por semilla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12700"/>
          </a:xfrm>
          <a:prstGeom prst="rect">
            <a:avLst/>
          </a:prstGeom>
          <a:solidFill>
            <a:srgbClr val="CC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379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DD"/>
                </a:solidFill>
                <a:latin typeface="Calibri"/>
              </a:rPr>
              <a:t>Análisis de Datos con Python · 4° año ICM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960120"/>
            <a:ext cx="5486400" cy="2103120"/>
          </a:xfrm>
          <a:prstGeom prst="rect">
            <a:avLst/>
          </a:prstGeom>
          <a:solidFill>
            <a:srgbClr val="F0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960120"/>
            <a:ext cx="50800" cy="210312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033272"/>
            <a:ext cx="5303520" cy="19933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1A1A2E"/>
                </a:solidFill>
                <a:latin typeface="Courier New"/>
              </a:rPr>
              <a:t>rng = np.random.default_rng(seed=42)  # semilla fija</a:t>
            </a:r>
          </a:p>
          <a:p>
            <a:r>
              <a:rPr sz="1200">
                <a:solidFill>
                  <a:srgbClr val="1A1A2E"/>
                </a:solidFill>
                <a:latin typeface="Courier New"/>
              </a:rPr>
              <a:t/>
            </a:r>
          </a:p>
          <a:p>
            <a:r>
              <a:rPr sz="1200">
                <a:solidFill>
                  <a:srgbClr val="1A1A2E"/>
                </a:solidFill>
                <a:latin typeface="Courier New"/>
              </a:rPr>
              <a:t>rng.random(size=(3,3))           # Uniforme en [0, 1)</a:t>
            </a:r>
          </a:p>
          <a:p>
            <a:r>
              <a:rPr sz="1200">
                <a:solidFill>
                  <a:srgbClr val="1A1A2E"/>
                </a:solidFill>
                <a:latin typeface="Courier New"/>
              </a:rPr>
              <a:t>rng.normal(loc=0, scale=1, size=(3,3))  # Normal N(0,1)</a:t>
            </a:r>
          </a:p>
          <a:p>
            <a:r>
              <a:rPr sz="1200">
                <a:solidFill>
                  <a:srgbClr val="1A1A2E"/>
                </a:solidFill>
                <a:latin typeface="Courier New"/>
              </a:rPr>
              <a:t>rng.integers(low=0, high=10, size=(4,4))  # Enteros</a:t>
            </a:r>
          </a:p>
          <a:p>
            <a:r>
              <a:rPr sz="1200">
                <a:solidFill>
                  <a:srgbClr val="1A1A2E"/>
                </a:solidFill>
                <a:latin typeface="Courier New"/>
              </a:rPr>
              <a:t>rng.uniform(size=(30, 2))        # Uniforme continua</a:t>
            </a:r>
          </a:p>
          <a:p>
            <a:r>
              <a:rPr sz="1200">
                <a:solidFill>
                  <a:srgbClr val="1A1A2E"/>
                </a:solidFill>
                <a:latin typeface="Courier New"/>
              </a:rPr>
              <a:t/>
            </a:r>
          </a:p>
          <a:p>
            <a:r>
              <a:rPr sz="1200">
                <a:solidFill>
                  <a:srgbClr val="1A1A2E"/>
                </a:solidFill>
                <a:latin typeface="Courier New"/>
              </a:rPr>
              <a:t># Misma semilla → mismo resultado siempre.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35040" y="960120"/>
            <a:ext cx="5760720" cy="3017520"/>
          </a:xfrm>
          <a:prstGeom prst="rect">
            <a:avLst/>
          </a:prstGeom>
          <a:solidFill>
            <a:srgbClr val="F0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035040" y="960120"/>
            <a:ext cx="50800" cy="301752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72200" y="1033272"/>
            <a:ext cx="5577840" cy="2907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1A1A2E"/>
                </a:solidFill>
                <a:latin typeface="Courier New"/>
              </a:rPr>
              <a:t># Distribuciones con aplicación en minería</a:t>
            </a:r>
          </a:p>
          <a:p>
            <a:r>
              <a:rPr sz="1100">
                <a:solidFill>
                  <a:srgbClr val="1A1A2E"/>
                </a:solidFill>
                <a:latin typeface="Courier New"/>
              </a:rPr>
              <a:t/>
            </a:r>
          </a:p>
          <a:p>
            <a:r>
              <a:rPr sz="1100">
                <a:solidFill>
                  <a:srgbClr val="1A1A2E"/>
                </a:solidFill>
                <a:latin typeface="Courier New"/>
              </a:rPr>
              <a:t># Poisson: conteo de fallas por mes</a:t>
            </a:r>
          </a:p>
          <a:p>
            <a:r>
              <a:rPr sz="1100">
                <a:solidFill>
                  <a:srgbClr val="1A1A2E"/>
                </a:solidFill>
                <a:latin typeface="Courier New"/>
              </a:rPr>
              <a:t>rng.poisson(lam=2.5, size=(4,4))</a:t>
            </a:r>
          </a:p>
          <a:p>
            <a:r>
              <a:rPr sz="1100">
                <a:solidFill>
                  <a:srgbClr val="1A1A2E"/>
                </a:solidFill>
                <a:latin typeface="Courier New"/>
              </a:rPr>
              <a:t/>
            </a:r>
          </a:p>
          <a:p>
            <a:r>
              <a:rPr sz="1100">
                <a:solidFill>
                  <a:srgbClr val="1A1A2E"/>
                </a:solidFill>
                <a:latin typeface="Courier New"/>
              </a:rPr>
              <a:t># Beta: recuperaciones y proporciones</a:t>
            </a:r>
          </a:p>
          <a:p>
            <a:r>
              <a:rPr sz="1100">
                <a:solidFill>
                  <a:srgbClr val="1A1A2E"/>
                </a:solidFill>
                <a:latin typeface="Courier New"/>
              </a:rPr>
              <a:t># También usada en tiempos PERT (ruta crítica)</a:t>
            </a:r>
          </a:p>
          <a:p>
            <a:r>
              <a:rPr sz="1100">
                <a:solidFill>
                  <a:srgbClr val="1A1A2E"/>
                </a:solidFill>
                <a:latin typeface="Courier New"/>
              </a:rPr>
              <a:t>rng.beta(a=2.0, b=5.0, size=(4,4))</a:t>
            </a:r>
          </a:p>
          <a:p>
            <a:r>
              <a:rPr sz="1100">
                <a:solidFill>
                  <a:srgbClr val="1A1A2E"/>
                </a:solidFill>
                <a:latin typeface="Courier New"/>
              </a:rPr>
              <a:t/>
            </a:r>
          </a:p>
          <a:p>
            <a:r>
              <a:rPr sz="1100">
                <a:solidFill>
                  <a:srgbClr val="1A1A2E"/>
                </a:solidFill>
                <a:latin typeface="Courier New"/>
              </a:rPr>
              <a:t># Normal multivariante: leyes correlacionadas</a:t>
            </a:r>
          </a:p>
          <a:p>
            <a:r>
              <a:rPr sz="1100">
                <a:solidFill>
                  <a:srgbClr val="1A1A2E"/>
                </a:solidFill>
                <a:latin typeface="Courier New"/>
              </a:rPr>
              <a:t>mean = [0.45, 0.12]          # Cu%, Mo%</a:t>
            </a:r>
          </a:p>
          <a:p>
            <a:r>
              <a:rPr sz="1100">
                <a:solidFill>
                  <a:srgbClr val="1A1A2E"/>
                </a:solidFill>
                <a:latin typeface="Courier New"/>
              </a:rPr>
              <a:t>cov  = [[0.01, 0.002],[0.002, 0.001]]</a:t>
            </a:r>
          </a:p>
          <a:p>
            <a:r>
              <a:rPr sz="1100">
                <a:solidFill>
                  <a:srgbClr val="1A1A2E"/>
                </a:solidFill>
                <a:latin typeface="Courier New"/>
              </a:rPr>
              <a:t>rng.multivariate_normal(mean, cov, size=100)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200400"/>
            <a:ext cx="5394960" cy="777240"/>
          </a:xfrm>
          <a:prstGeom prst="rect">
            <a:avLst/>
          </a:prstGeom>
          <a:solidFill>
            <a:srgbClr val="FF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3200400"/>
            <a:ext cx="63500" cy="77724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324612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94560"/>
                </a:solidFill>
                <a:latin typeface="Calibri"/>
              </a:rPr>
              <a:t>Reproducibilidad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493008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444455"/>
                </a:solidFill>
                <a:latin typeface="Calibri"/>
              </a:rPr>
              <a:t>Misma semilla → mismo arreglo en toda ejecución, en toda máquina. Indispensable para que los experimentos sean repetibles y auditables.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88952" cy="381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2471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Indexación y slicing: acceso preciso a elementos y sub-arreglos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12700"/>
          </a:xfrm>
          <a:prstGeom prst="rect">
            <a:avLst/>
          </a:prstGeom>
          <a:solidFill>
            <a:srgbClr val="CC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379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DD"/>
                </a:solidFill>
                <a:latin typeface="Calibri"/>
              </a:rPr>
              <a:t>Análisis de Datos con Python · 4° año ICM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960120"/>
            <a:ext cx="5486400" cy="2011680"/>
          </a:xfrm>
          <a:prstGeom prst="rect">
            <a:avLst/>
          </a:prstGeom>
          <a:solidFill>
            <a:srgbClr val="F0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960120"/>
            <a:ext cx="50800" cy="201168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033272"/>
            <a:ext cx="5303520" cy="19019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1A1A2E"/>
                </a:solidFill>
                <a:latin typeface="Courier New"/>
              </a:rPr>
              <a:t>x = np.array([5, 2, 8, 1, 9, 4])</a:t>
            </a:r>
          </a:p>
          <a:p>
            <a:r>
              <a:rPr sz="1200">
                <a:solidFill>
                  <a:srgbClr val="1A1A2E"/>
                </a:solidFill>
                <a:latin typeface="Courier New"/>
              </a:rPr>
              <a:t>x[0]   # → 5   (primer elemento)</a:t>
            </a:r>
          </a:p>
          <a:p>
            <a:r>
              <a:rPr sz="1200">
                <a:solidFill>
                  <a:srgbClr val="1A1A2E"/>
                </a:solidFill>
                <a:latin typeface="Courier New"/>
              </a:rPr>
              <a:t>x[-1]  # → 4   (último)</a:t>
            </a:r>
          </a:p>
          <a:p>
            <a:r>
              <a:rPr sz="1200">
                <a:solidFill>
                  <a:srgbClr val="1A1A2E"/>
                </a:solidFill>
                <a:latin typeface="Courier New"/>
              </a:rPr>
              <a:t/>
            </a:r>
          </a:p>
          <a:p>
            <a:r>
              <a:rPr sz="1200">
                <a:solidFill>
                  <a:srgbClr val="1A1A2E"/>
                </a:solidFill>
                <a:latin typeface="Courier New"/>
              </a:rPr>
              <a:t># Arreglos 2D: (fila, columna)</a:t>
            </a:r>
          </a:p>
          <a:p>
            <a:r>
              <a:rPr sz="1200">
                <a:solidFill>
                  <a:srgbClr val="1A1A2E"/>
                </a:solidFill>
                <a:latin typeface="Courier New"/>
              </a:rPr>
              <a:t>x2[0, 1]   # fila 0, col 1</a:t>
            </a:r>
          </a:p>
          <a:p>
            <a:r>
              <a:rPr sz="1200">
                <a:solidFill>
                  <a:srgbClr val="1A1A2E"/>
                </a:solidFill>
                <a:latin typeface="Courier New"/>
              </a:rPr>
              <a:t>x2[-1, -2] # última fila, penúltima col</a:t>
            </a:r>
          </a:p>
          <a:p>
            <a:r>
              <a:rPr sz="1200">
                <a:solidFill>
                  <a:srgbClr val="1A1A2E"/>
                </a:solidFill>
                <a:latin typeface="Courier New"/>
              </a:rPr>
              <a:t/>
            </a:r>
          </a:p>
          <a:p>
            <a:r>
              <a:rPr sz="1200">
                <a:solidFill>
                  <a:srgbClr val="1A1A2E"/>
                </a:solidFill>
                <a:latin typeface="Courier New"/>
              </a:rPr>
              <a:t># Modificar en sitio</a:t>
            </a:r>
          </a:p>
          <a:p>
            <a:r>
              <a:rPr sz="1200">
                <a:solidFill>
                  <a:srgbClr val="1A1A2E"/>
                </a:solidFill>
                <a:latin typeface="Courier New"/>
              </a:rPr>
              <a:t>x2[1, 0] = 99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35040" y="960120"/>
            <a:ext cx="5760720" cy="2651760"/>
          </a:xfrm>
          <a:prstGeom prst="rect">
            <a:avLst/>
          </a:prstGeom>
          <a:solidFill>
            <a:srgbClr val="F0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035040" y="960120"/>
            <a:ext cx="50800" cy="265176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72200" y="1033272"/>
            <a:ext cx="5577840" cy="2542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1A1A2E"/>
                </a:solidFill>
                <a:latin typeface="Courier New"/>
              </a:rPr>
              <a:t># Slicing: x[inicio:final:paso]</a:t>
            </a:r>
          </a:p>
          <a:p>
            <a:r>
              <a:rPr sz="1100">
                <a:solidFill>
                  <a:srgbClr val="1A1A2E"/>
                </a:solidFill>
                <a:latin typeface="Courier New"/>
              </a:rPr>
              <a:t>x = np.arange(10)  # [0,1,2,...,9]</a:t>
            </a:r>
          </a:p>
          <a:p>
            <a:r>
              <a:rPr sz="1100">
                <a:solidFill>
                  <a:srgbClr val="1A1A2E"/>
                </a:solidFill>
                <a:latin typeface="Courier New"/>
              </a:rPr>
              <a:t/>
            </a:r>
          </a:p>
          <a:p>
            <a:r>
              <a:rPr sz="1100">
                <a:solidFill>
                  <a:srgbClr val="1A1A2E"/>
                </a:solidFill>
                <a:latin typeface="Courier New"/>
              </a:rPr>
              <a:t>x[:5]      # → [0,1,2,3,4]</a:t>
            </a:r>
          </a:p>
          <a:p>
            <a:r>
              <a:rPr sz="1100">
                <a:solidFill>
                  <a:srgbClr val="1A1A2E"/>
                </a:solidFill>
                <a:latin typeface="Courier New"/>
              </a:rPr>
              <a:t>x[5:]      # → [5,6,7,8,9]</a:t>
            </a:r>
          </a:p>
          <a:p>
            <a:r>
              <a:rPr sz="1100">
                <a:solidFill>
                  <a:srgbClr val="1A1A2E"/>
                </a:solidFill>
                <a:latin typeface="Courier New"/>
              </a:rPr>
              <a:t>x[4:7]     # → [4,5,6]</a:t>
            </a:r>
          </a:p>
          <a:p>
            <a:r>
              <a:rPr sz="1100">
                <a:solidFill>
                  <a:srgbClr val="1A1A2E"/>
                </a:solidFill>
                <a:latin typeface="Courier New"/>
              </a:rPr>
              <a:t>x[::2]     # → [0,2,4,6,8]</a:t>
            </a:r>
          </a:p>
          <a:p>
            <a:r>
              <a:rPr sz="1100">
                <a:solidFill>
                  <a:srgbClr val="1A1A2E"/>
                </a:solidFill>
                <a:latin typeface="Courier New"/>
              </a:rPr>
              <a:t>x[::-1]    # → [9,8,...,0]   (invertir)</a:t>
            </a:r>
          </a:p>
          <a:p>
            <a:r>
              <a:rPr sz="1100">
                <a:solidFill>
                  <a:srgbClr val="1A1A2E"/>
                </a:solidFill>
                <a:latin typeface="Courier New"/>
              </a:rPr>
              <a:t/>
            </a:r>
          </a:p>
          <a:p>
            <a:r>
              <a:rPr sz="1100">
                <a:solidFill>
                  <a:srgbClr val="1A1A2E"/>
                </a:solidFill>
                <a:latin typeface="Courier New"/>
              </a:rPr>
              <a:t># En 2D:</a:t>
            </a:r>
          </a:p>
          <a:p>
            <a:r>
              <a:rPr sz="1100">
                <a:solidFill>
                  <a:srgbClr val="1A1A2E"/>
                </a:solidFill>
                <a:latin typeface="Courier New"/>
              </a:rPr>
              <a:t>A[:2, :3]  # filas 0-1, columnas 0-2</a:t>
            </a:r>
          </a:p>
          <a:p>
            <a:r>
              <a:rPr sz="1100">
                <a:solidFill>
                  <a:srgbClr val="1A1A2E"/>
                </a:solidFill>
                <a:latin typeface="Courier New"/>
              </a:rPr>
              <a:t>A[:, 1]    # TODA la columna 1</a:t>
            </a:r>
          </a:p>
          <a:p>
            <a:r>
              <a:rPr sz="1100">
                <a:solidFill>
                  <a:srgbClr val="1A1A2E"/>
                </a:solidFill>
                <a:latin typeface="Courier New"/>
              </a:rPr>
              <a:t>A[1, :]    # TODA la fila 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108960"/>
            <a:ext cx="5394960" cy="914400"/>
          </a:xfrm>
          <a:prstGeom prst="rect">
            <a:avLst/>
          </a:prstGeom>
          <a:solidFill>
            <a:srgbClr val="FF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3108960"/>
            <a:ext cx="63500" cy="9144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315468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94560"/>
                </a:solidFill>
                <a:latin typeface="Calibri"/>
              </a:rPr>
              <a:t>Slices son VISTAS, no copias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401568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444455"/>
                </a:solidFill>
                <a:latin typeface="Calibri"/>
              </a:rPr>
              <a:t>Modificar un sub-arreglo modifica el original. Para una copia independiente: sub = A[:2, :2].copy()
Razón: trabajar con fragmentos de datasets enormes sin duplicar memoria.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35040" y="3749039"/>
            <a:ext cx="5760720" cy="960120"/>
          </a:xfrm>
          <a:prstGeom prst="rect">
            <a:avLst/>
          </a:prstGeom>
          <a:solidFill>
            <a:srgbClr val="F0F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35040" y="3749039"/>
            <a:ext cx="63500" cy="960120"/>
          </a:xfrm>
          <a:prstGeom prst="rect">
            <a:avLst/>
          </a:prstGeom>
          <a:solidFill>
            <a:srgbClr val="1D9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72200" y="3794759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D9A6C"/>
                </a:solidFill>
                <a:latin typeface="Calibri"/>
              </a:rPr>
              <a:t>Redimensionamiento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72200" y="4041647"/>
            <a:ext cx="5577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444455"/>
                </a:solidFill>
                <a:latin typeface="Calibri"/>
              </a:rPr>
              <a:t>A.T → transpuesta
A.ravel() → aplana a 1D
A.reshape(m, n) → nueva geometría (conserva size)
np.vstack / np.hstack / np.concatenate → unión de arreglos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88952" cy="381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2471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I/O: cargar y guardar arreglos desde y hacia disco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12700"/>
          </a:xfrm>
          <a:prstGeom prst="rect">
            <a:avLst/>
          </a:prstGeom>
          <a:solidFill>
            <a:srgbClr val="CC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379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DD"/>
                </a:solidFill>
                <a:latin typeface="Calibri"/>
              </a:rPr>
              <a:t>Análisis de Datos con Python · 4° año ICM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960120"/>
            <a:ext cx="5486400" cy="2743200"/>
          </a:xfrm>
          <a:prstGeom prst="rect">
            <a:avLst/>
          </a:prstGeom>
          <a:solidFill>
            <a:srgbClr val="F0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960120"/>
            <a:ext cx="50800" cy="27432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033272"/>
            <a:ext cx="5303520" cy="2633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1A1A2E"/>
                </a:solidFill>
                <a:latin typeface="Courier New"/>
              </a:rPr>
              <a:t># Lectura simple (archivo limpio)</a:t>
            </a:r>
          </a:p>
          <a:p>
            <a:r>
              <a:rPr sz="1100">
                <a:solidFill>
                  <a:srgbClr val="1A1A2E"/>
                </a:solidFill>
                <a:latin typeface="Courier New"/>
              </a:rPr>
              <a:t>A = np.loadtxt('datos.csv', delimiter=',')</a:t>
            </a:r>
          </a:p>
          <a:p>
            <a:r>
              <a:rPr sz="1100">
                <a:solidFill>
                  <a:srgbClr val="1A1A2E"/>
                </a:solidFill>
                <a:latin typeface="Courier New"/>
              </a:rPr>
              <a:t/>
            </a:r>
          </a:p>
          <a:p>
            <a:r>
              <a:rPr sz="1100">
                <a:solidFill>
                  <a:srgbClr val="1A1A2E"/>
                </a:solidFill>
                <a:latin typeface="Courier New"/>
              </a:rPr>
              <a:t># Lectura flexible (tolera NaN, cabeceras)</a:t>
            </a:r>
          </a:p>
          <a:p>
            <a:r>
              <a:rPr sz="1100">
                <a:solidFill>
                  <a:srgbClr val="1A1A2E"/>
                </a:solidFill>
                <a:latin typeface="Courier New"/>
              </a:rPr>
              <a:t>X = np.genfromtxt(</a:t>
            </a:r>
          </a:p>
          <a:p>
            <a:r>
              <a:rPr sz="1100">
                <a:solidFill>
                  <a:srgbClr val="1A1A2E"/>
                </a:solidFill>
                <a:latin typeface="Courier New"/>
              </a:rPr>
              <a:t>    'mediciones.csv',</a:t>
            </a:r>
          </a:p>
          <a:p>
            <a:r>
              <a:rPr sz="1100">
                <a:solidFill>
                  <a:srgbClr val="1A1A2E"/>
                </a:solidFill>
                <a:latin typeface="Courier New"/>
              </a:rPr>
              <a:t>    delimiter=',',</a:t>
            </a:r>
          </a:p>
          <a:p>
            <a:r>
              <a:rPr sz="1100">
                <a:solidFill>
                  <a:srgbClr val="1A1A2E"/>
                </a:solidFill>
                <a:latin typeface="Courier New"/>
              </a:rPr>
              <a:t>    skip_header=1,</a:t>
            </a:r>
          </a:p>
          <a:p>
            <a:r>
              <a:rPr sz="1100">
                <a:solidFill>
                  <a:srgbClr val="1A1A2E"/>
                </a:solidFill>
                <a:latin typeface="Courier New"/>
              </a:rPr>
              <a:t>    filling_values=-999   # NaN → -999</a:t>
            </a:r>
          </a:p>
          <a:p>
            <a:r>
              <a:rPr sz="1100">
                <a:solidFill>
                  <a:srgbClr val="1A1A2E"/>
                </a:solidFill>
                <a:latin typeface="Courier New"/>
              </a:rPr>
              <a:t>)</a:t>
            </a:r>
          </a:p>
          <a:p>
            <a:r>
              <a:rPr sz="1100">
                <a:solidFill>
                  <a:srgbClr val="1A1A2E"/>
                </a:solidFill>
                <a:latin typeface="Courier New"/>
              </a:rPr>
              <a:t/>
            </a:r>
          </a:p>
          <a:p>
            <a:r>
              <a:rPr sz="1100">
                <a:solidFill>
                  <a:srgbClr val="1A1A2E"/>
                </a:solidFill>
                <a:latin typeface="Courier New"/>
              </a:rPr>
              <a:t># Leer sólo ciertas columnas</a:t>
            </a:r>
          </a:p>
          <a:p>
            <a:r>
              <a:rPr sz="1100">
                <a:solidFill>
                  <a:srgbClr val="1A1A2E"/>
                </a:solidFill>
                <a:latin typeface="Courier New"/>
              </a:rPr>
              <a:t>X = np.loadtxt('datos.csv', delimiter=',',</a:t>
            </a:r>
          </a:p>
          <a:p>
            <a:r>
              <a:rPr sz="1100">
                <a:solidFill>
                  <a:srgbClr val="1A1A2E"/>
                </a:solidFill>
                <a:latin typeface="Courier New"/>
              </a:rPr>
              <a:t>               usecols=(0, 2))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35040" y="960120"/>
            <a:ext cx="5760720" cy="2011680"/>
          </a:xfrm>
          <a:prstGeom prst="rect">
            <a:avLst/>
          </a:prstGeom>
          <a:solidFill>
            <a:srgbClr val="F0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035040" y="960120"/>
            <a:ext cx="50800" cy="201168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72200" y="1033272"/>
            <a:ext cx="5577840" cy="19019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1A1A2E"/>
                </a:solidFill>
                <a:latin typeface="Courier New"/>
              </a:rPr>
              <a:t># Escritura como texto (CSV)</a:t>
            </a:r>
          </a:p>
          <a:p>
            <a:r>
              <a:rPr sz="1100">
                <a:solidFill>
                  <a:srgbClr val="1A1A2E"/>
                </a:solidFill>
                <a:latin typeface="Courier New"/>
              </a:rPr>
              <a:t>np.savetxt('salida.csv', A, delimiter=',',</a:t>
            </a:r>
          </a:p>
          <a:p>
            <a:r>
              <a:rPr sz="1100">
                <a:solidFill>
                  <a:srgbClr val="1A1A2E"/>
                </a:solidFill>
                <a:latin typeface="Courier New"/>
              </a:rPr>
              <a:t>           fmt='%.2f')   # 2 decimales</a:t>
            </a:r>
          </a:p>
          <a:p>
            <a:r>
              <a:rPr sz="1100">
                <a:solidFill>
                  <a:srgbClr val="1A1A2E"/>
                </a:solidFill>
                <a:latin typeface="Courier New"/>
              </a:rPr>
              <a:t/>
            </a:r>
          </a:p>
          <a:p>
            <a:r>
              <a:rPr sz="1100">
                <a:solidFill>
                  <a:srgbClr val="1A1A2E"/>
                </a:solidFill>
                <a:latin typeface="Courier New"/>
              </a:rPr>
              <a:t># Formato binario nativo (.npy)</a:t>
            </a:r>
          </a:p>
          <a:p>
            <a:r>
              <a:rPr sz="1100">
                <a:solidFill>
                  <a:srgbClr val="1A1A2E"/>
                </a:solidFill>
                <a:latin typeface="Courier New"/>
              </a:rPr>
              <a:t># Preserva geometría y dtype exactamente</a:t>
            </a:r>
          </a:p>
          <a:p>
            <a:r>
              <a:rPr sz="1100">
                <a:solidFill>
                  <a:srgbClr val="1A1A2E"/>
                </a:solidFill>
                <a:latin typeface="Courier New"/>
              </a:rPr>
              <a:t>np.save('mi_arreglo.npy', A)</a:t>
            </a:r>
          </a:p>
          <a:p>
            <a:r>
              <a:rPr sz="1100">
                <a:solidFill>
                  <a:srgbClr val="1A1A2E"/>
                </a:solidFill>
                <a:latin typeface="Courier New"/>
              </a:rPr>
              <a:t>B = np.load('mi_arreglo.npy')  # recupera 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35040" y="3108960"/>
            <a:ext cx="5760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3460"/>
                </a:solidFill>
                <a:latin typeface="Calibri"/>
              </a:rPr>
              <a:t>Regla de uso: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35040" y="3429000"/>
            <a:ext cx="54864" cy="237744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3429000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55"/>
                </a:solidFill>
                <a:latin typeface="Courier New"/>
              </a:rPr>
              <a:t>loadtxt          — Datos limpios y regulares, sin cabeceras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35040" y="3730752"/>
            <a:ext cx="54864" cy="237744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0" y="3730752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55"/>
                </a:solidFill>
                <a:latin typeface="Courier New"/>
              </a:rPr>
              <a:t>genfromtxt       — Cabeceras, NaN, o estructura irregular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35040" y="4032504"/>
            <a:ext cx="54864" cy="237744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0" y="4032504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55"/>
                </a:solidFill>
                <a:latin typeface="Courier New"/>
              </a:rPr>
              <a:t>savetxt          — Guardar en texto legible (CSV)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35040" y="4334256"/>
            <a:ext cx="54864" cy="237744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17920" y="4334256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55"/>
                </a:solidFill>
                <a:latin typeface="Courier New"/>
              </a:rPr>
              <a:t>save / load      — Resultados intermedios — formato binario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35040" y="4636008"/>
            <a:ext cx="54864" cy="237744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17920" y="4636008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55"/>
                </a:solidFill>
                <a:latin typeface="Courier New"/>
              </a:rPr>
              <a:t>Pandas           — Datos con tipos mixtos, nombres de columna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2743200"/>
            <a:ext cx="64008" cy="128016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274320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Módulo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361188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CCCCDD"/>
                </a:solidFill>
                <a:latin typeface="Calibri"/>
              </a:rPr>
              <a:t>Operatoria Vectorizada · ufuncs · Aritmética · Álgebra lineal · Funciones matemáticas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DD"/>
                </a:solidFill>
                <a:latin typeface="Calibri"/>
              </a:rPr>
              <a:t>Análisis de Datos con Python · 4° año ICM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88952" cy="381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2471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Los bucles en Python son lentos: CPython revisa tipos en cada iteración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12700"/>
          </a:xfrm>
          <a:prstGeom prst="rect">
            <a:avLst/>
          </a:prstGeom>
          <a:solidFill>
            <a:srgbClr val="CC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379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DD"/>
                </a:solidFill>
                <a:latin typeface="Calibri"/>
              </a:rPr>
              <a:t>Análisis de Datos con Python · 4° año ICM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960120"/>
            <a:ext cx="5486400" cy="2377440"/>
          </a:xfrm>
          <a:prstGeom prst="rect">
            <a:avLst/>
          </a:prstGeom>
          <a:solidFill>
            <a:srgbClr val="F0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960120"/>
            <a:ext cx="50800" cy="237744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033272"/>
            <a:ext cx="5303520" cy="22677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1A1A2E"/>
                </a:solidFill>
                <a:latin typeface="Courier New"/>
              </a:rPr>
              <a:t># Con bucle: lento</a:t>
            </a:r>
          </a:p>
          <a:p>
            <a:r>
              <a:rPr sz="1100">
                <a:solidFill>
                  <a:srgbClr val="1A1A2E"/>
                </a:solidFill>
                <a:latin typeface="Courier New"/>
              </a:rPr>
              <a:t>def compute_neg_exp(values):</a:t>
            </a:r>
          </a:p>
          <a:p>
            <a:r>
              <a:rPr sz="1100">
                <a:solidFill>
                  <a:srgbClr val="1A1A2E"/>
                </a:solidFill>
                <a:latin typeface="Courier New"/>
              </a:rPr>
              <a:t>    output = np.empty(len(values))</a:t>
            </a:r>
          </a:p>
          <a:p>
            <a:r>
              <a:rPr sz="1100">
                <a:solidFill>
                  <a:srgbClr val="1A1A2E"/>
                </a:solidFill>
                <a:latin typeface="Courier New"/>
              </a:rPr>
              <a:t>    for i in range(len(values)):</a:t>
            </a:r>
          </a:p>
          <a:p>
            <a:r>
              <a:rPr sz="1100">
                <a:solidFill>
                  <a:srgbClr val="1A1A2E"/>
                </a:solidFill>
                <a:latin typeface="Courier New"/>
              </a:rPr>
              <a:t>        output[i] = 2**(-values[i])   # chequeo de tipo en cada ciclo</a:t>
            </a:r>
          </a:p>
          <a:p>
            <a:r>
              <a:rPr sz="1100">
                <a:solidFill>
                  <a:srgbClr val="1A1A2E"/>
                </a:solidFill>
                <a:latin typeface="Courier New"/>
              </a:rPr>
              <a:t>    return output</a:t>
            </a:r>
          </a:p>
          <a:p>
            <a:r>
              <a:rPr sz="1100">
                <a:solidFill>
                  <a:srgbClr val="1A1A2E"/>
                </a:solidFill>
                <a:latin typeface="Courier New"/>
              </a:rPr>
              <a:t/>
            </a:r>
          </a:p>
          <a:p>
            <a:r>
              <a:rPr sz="1100">
                <a:solidFill>
                  <a:srgbClr val="1A1A2E"/>
                </a:solidFill>
                <a:latin typeface="Courier New"/>
              </a:rPr>
              <a:t>huge = rng.normal(5, 2, size=1_000_000)</a:t>
            </a:r>
          </a:p>
          <a:p>
            <a:r>
              <a:rPr sz="1100">
                <a:solidFill>
                  <a:srgbClr val="1A1A2E"/>
                </a:solidFill>
                <a:latin typeface="Courier New"/>
              </a:rPr>
              <a:t>%timeit compute_neg_exp(huge)</a:t>
            </a:r>
          </a:p>
          <a:p>
            <a:r>
              <a:rPr sz="1100">
                <a:solidFill>
                  <a:srgbClr val="1A1A2E"/>
                </a:solidFill>
                <a:latin typeface="Courier New"/>
              </a:rPr>
              <a:t># → ~500 ms por ejecución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35040" y="960120"/>
            <a:ext cx="5760720" cy="1920240"/>
          </a:xfrm>
          <a:prstGeom prst="rect">
            <a:avLst/>
          </a:prstGeom>
          <a:solidFill>
            <a:srgbClr val="F0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035040" y="960120"/>
            <a:ext cx="50800" cy="192024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72200" y="1033272"/>
            <a:ext cx="5577840" cy="18105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1A1A2E"/>
                </a:solidFill>
                <a:latin typeface="Courier New"/>
              </a:rPr>
              <a:t># Vectorizado: ~150x más rápido</a:t>
            </a:r>
          </a:p>
          <a:p>
            <a:r>
              <a:rPr sz="1100">
                <a:solidFill>
                  <a:srgbClr val="1A1A2E"/>
                </a:solidFill>
                <a:latin typeface="Courier New"/>
              </a:rPr>
              <a:t>%timeit 2**(-huge)</a:t>
            </a:r>
          </a:p>
          <a:p>
            <a:r>
              <a:rPr sz="1100">
                <a:solidFill>
                  <a:srgbClr val="1A1A2E"/>
                </a:solidFill>
                <a:latin typeface="Courier New"/>
              </a:rPr>
              <a:t># → ~3 ms por ejecución</a:t>
            </a:r>
          </a:p>
          <a:p>
            <a:r>
              <a:rPr sz="1100">
                <a:solidFill>
                  <a:srgbClr val="1A1A2E"/>
                </a:solidFill>
                <a:latin typeface="Courier New"/>
              </a:rPr>
              <a:t/>
            </a:r>
          </a:p>
          <a:p>
            <a:r>
              <a:rPr sz="1100">
                <a:solidFill>
                  <a:srgbClr val="1A1A2E"/>
                </a:solidFill>
                <a:latin typeface="Courier New"/>
              </a:rPr>
              <a:t># La operación se delega a rutinas</a:t>
            </a:r>
          </a:p>
          <a:p>
            <a:r>
              <a:rPr sz="1100">
                <a:solidFill>
                  <a:srgbClr val="1A1A2E"/>
                </a:solidFill>
                <a:latin typeface="Courier New"/>
              </a:rPr>
              <a:t># compiladas en C que evitan el</a:t>
            </a:r>
          </a:p>
          <a:p>
            <a:r>
              <a:rPr sz="1100">
                <a:solidFill>
                  <a:srgbClr val="1A1A2E"/>
                </a:solidFill>
                <a:latin typeface="Courier New"/>
              </a:rPr>
              <a:t># despacho dinámico de Python.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474720"/>
            <a:ext cx="11430000" cy="685800"/>
          </a:xfrm>
          <a:prstGeom prst="rect">
            <a:avLst/>
          </a:prstGeom>
          <a:solidFill>
            <a:srgbClr val="FF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3474720"/>
            <a:ext cx="63500" cy="6858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352044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94560"/>
                </a:solidFill>
                <a:latin typeface="Calibri"/>
              </a:rPr>
              <a:t>Regla de oro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767328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444455"/>
                </a:solidFill>
                <a:latin typeface="Calibri"/>
              </a:rPr>
              <a:t>Si puedes escribirlo como una operación sobre un arreglo completo, NUNCA uses un bucle explícito.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4297680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3460"/>
                </a:solidFill>
                <a:latin typeface="Calibri"/>
              </a:rPr>
              <a:t>Ganancia de rendimiento: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4617720"/>
            <a:ext cx="11430000" cy="29260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466344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Método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466344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Tiempo (1M elem.)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4663440"/>
            <a:ext cx="6126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Por qué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4910328"/>
            <a:ext cx="11430000" cy="310896"/>
          </a:xfrm>
          <a:prstGeom prst="rect">
            <a:avLst/>
          </a:prstGeom>
          <a:solidFill>
            <a:srgbClr val="F4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496519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55"/>
                </a:solidFill>
                <a:latin typeface="Calibri"/>
              </a:rPr>
              <a:t>Bucle Python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26080" y="496519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94560"/>
                </a:solidFill>
                <a:latin typeface="Calibri"/>
              </a:rPr>
              <a:t>~500 ms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0" y="4965192"/>
            <a:ext cx="6126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55"/>
                </a:solidFill>
                <a:latin typeface="Calibri"/>
              </a:rPr>
              <a:t>Revisión de tipo en cada elemento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5221224"/>
            <a:ext cx="11430000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527608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55"/>
                </a:solidFill>
                <a:latin typeface="Calibri"/>
              </a:rPr>
              <a:t>NumPy ufunc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26080" y="527608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D9A6C"/>
                </a:solidFill>
                <a:latin typeface="Calibri"/>
              </a:rPr>
              <a:t>~3 ms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0" y="5276088"/>
            <a:ext cx="6126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55"/>
                </a:solidFill>
                <a:latin typeface="Calibri"/>
              </a:rPr>
              <a:t>Rutina C precompilada, sin overhead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88952" cy="381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2471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ufuncs: las operaciones vectorizadas son siempre componente a componente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12700"/>
          </a:xfrm>
          <a:prstGeom prst="rect">
            <a:avLst/>
          </a:prstGeom>
          <a:solidFill>
            <a:srgbClr val="CC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379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DD"/>
                </a:solidFill>
                <a:latin typeface="Calibri"/>
              </a:rPr>
              <a:t>Análisis de Datos con Python · 4° año ICM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960120"/>
            <a:ext cx="5486400" cy="2651760"/>
          </a:xfrm>
          <a:prstGeom prst="rect">
            <a:avLst/>
          </a:prstGeom>
          <a:solidFill>
            <a:srgbClr val="F0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960120"/>
            <a:ext cx="50800" cy="265176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033272"/>
            <a:ext cx="5303520" cy="2542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1A1A2E"/>
                </a:solidFill>
                <a:latin typeface="Courier New"/>
              </a:rPr>
              <a:t>x = np.array([-1, 0, 9, 5, -4, 5])</a:t>
            </a:r>
          </a:p>
          <a:p>
            <a:r>
              <a:rPr sz="1100">
                <a:solidFill>
                  <a:srgbClr val="1A1A2E"/>
                </a:solidFill>
                <a:latin typeface="Courier New"/>
              </a:rPr>
              <a:t/>
            </a:r>
          </a:p>
          <a:p>
            <a:r>
              <a:rPr sz="1100">
                <a:solidFill>
                  <a:srgbClr val="1A1A2E"/>
                </a:solidFill>
                <a:latin typeface="Courier New"/>
              </a:rPr>
              <a:t>x + 5      # → [ 4,  5, 14, 10,  1, 10]</a:t>
            </a:r>
          </a:p>
          <a:p>
            <a:r>
              <a:rPr sz="1100">
                <a:solidFill>
                  <a:srgbClr val="1A1A2E"/>
                </a:solidFill>
                <a:latin typeface="Courier New"/>
              </a:rPr>
              <a:t>x - 5      # → [-6, -5,  4,  0, -9,  0]</a:t>
            </a:r>
          </a:p>
          <a:p>
            <a:r>
              <a:rPr sz="1100">
                <a:solidFill>
                  <a:srgbClr val="1A1A2E"/>
                </a:solidFill>
                <a:latin typeface="Courier New"/>
              </a:rPr>
              <a:t>x * 2      # → [-2,  0, 18, 10, -8, 10]</a:t>
            </a:r>
          </a:p>
          <a:p>
            <a:r>
              <a:rPr sz="1100">
                <a:solidFill>
                  <a:srgbClr val="1A1A2E"/>
                </a:solidFill>
                <a:latin typeface="Courier New"/>
              </a:rPr>
              <a:t>x / 2      # → [-0.5, 0, 4.5, 2.5, -2, 2.5]</a:t>
            </a:r>
          </a:p>
          <a:p>
            <a:r>
              <a:rPr sz="1100">
                <a:solidFill>
                  <a:srgbClr val="1A1A2E"/>
                </a:solidFill>
                <a:latin typeface="Courier New"/>
              </a:rPr>
              <a:t>x // 2     # → [-1,  0,  4,  2, -2,  2]  (cociente)</a:t>
            </a:r>
          </a:p>
          <a:p>
            <a:r>
              <a:rPr sz="1100">
                <a:solidFill>
                  <a:srgbClr val="1A1A2E"/>
                </a:solidFill>
                <a:latin typeface="Courier New"/>
              </a:rPr>
              <a:t>x % 2      # → [ 1,  0,  1,  1,  0,  1]  (módulo)</a:t>
            </a:r>
          </a:p>
          <a:p>
            <a:r>
              <a:rPr sz="1100">
                <a:solidFill>
                  <a:srgbClr val="1A1A2E"/>
                </a:solidFill>
                <a:latin typeface="Courier New"/>
              </a:rPr>
              <a:t>-x         # → [ 1,  0, -9, -5,  4, -5]  (negación)</a:t>
            </a:r>
          </a:p>
          <a:p>
            <a:r>
              <a:rPr sz="1100">
                <a:solidFill>
                  <a:srgbClr val="1A1A2E"/>
                </a:solidFill>
                <a:latin typeface="Courier New"/>
              </a:rPr>
              <a:t>x ** 2     # → [ 1,  0, 81, 25, 16, 25]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35040" y="960120"/>
            <a:ext cx="5760720" cy="1920240"/>
          </a:xfrm>
          <a:prstGeom prst="rect">
            <a:avLst/>
          </a:prstGeom>
          <a:solidFill>
            <a:srgbClr val="F0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035040" y="960120"/>
            <a:ext cx="50800" cy="192024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72200" y="1033272"/>
            <a:ext cx="5577840" cy="18105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1A1A2E"/>
                </a:solidFill>
                <a:latin typeface="Courier New"/>
              </a:rPr>
              <a:t>a = np.array([0, -1, 8, -2, 5])</a:t>
            </a:r>
          </a:p>
          <a:p>
            <a:r>
              <a:rPr sz="1100">
                <a:solidFill>
                  <a:srgbClr val="1A1A2E"/>
                </a:solidFill>
                <a:latin typeface="Courier New"/>
              </a:rPr>
              <a:t>b = np.array([-6, -9, 0, 1, -2])</a:t>
            </a:r>
          </a:p>
          <a:p>
            <a:r>
              <a:rPr sz="1100">
                <a:solidFill>
                  <a:srgbClr val="1A1A2E"/>
                </a:solidFill>
                <a:latin typeface="Courier New"/>
              </a:rPr>
              <a:t/>
            </a:r>
          </a:p>
          <a:p>
            <a:r>
              <a:rPr sz="1100">
                <a:solidFill>
                  <a:srgbClr val="1A1A2E"/>
                </a:solidFill>
                <a:latin typeface="Courier New"/>
              </a:rPr>
              <a:t>a + b   # → [-6, -10, 8, -1, 3]   (suma vectorial)</a:t>
            </a:r>
          </a:p>
          <a:p>
            <a:r>
              <a:rPr sz="1100">
                <a:solidFill>
                  <a:srgbClr val="1A1A2E"/>
                </a:solidFill>
                <a:latin typeface="Courier New"/>
              </a:rPr>
              <a:t>2 * a   # → [0, -2, 16, -4, 10]   (producto por escalar)</a:t>
            </a:r>
          </a:p>
          <a:p>
            <a:r>
              <a:rPr sz="1100">
                <a:solidFill>
                  <a:srgbClr val="1A1A2E"/>
                </a:solidFill>
                <a:latin typeface="Courier New"/>
              </a:rPr>
              <a:t/>
            </a:r>
          </a:p>
          <a:p>
            <a:r>
              <a:rPr sz="1100">
                <a:solidFill>
                  <a:srgbClr val="1A1A2E"/>
                </a:solidFill>
                <a:latin typeface="Courier New"/>
              </a:rPr>
              <a:t># Mezcla de ufuncs (respeta jerarquía aritmética)</a:t>
            </a:r>
          </a:p>
          <a:p>
            <a:r>
              <a:rPr sz="1100">
                <a:solidFill>
                  <a:srgbClr val="1A1A2E"/>
                </a:solidFill>
                <a:latin typeface="Courier New"/>
              </a:rPr>
              <a:t>-(0.5*x + 1) ** 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749039"/>
            <a:ext cx="11430000" cy="868680"/>
          </a:xfrm>
          <a:prstGeom prst="rect">
            <a:avLst/>
          </a:prstGeom>
          <a:solidFill>
            <a:srgbClr val="F0F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3749039"/>
            <a:ext cx="63500" cy="868680"/>
          </a:xfrm>
          <a:prstGeom prst="rect">
            <a:avLst/>
          </a:prstGeom>
          <a:solidFill>
            <a:srgbClr val="1D9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3794759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D9A6C"/>
                </a:solidFill>
                <a:latin typeface="Calibri"/>
              </a:rPr>
              <a:t>Fundamento algebraico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041647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444455"/>
                </a:solidFill>
                <a:latin typeface="Calibri"/>
              </a:rPr>
              <a:t>La suma y el producto por escalar de arreglos replican exactamente las operaciones del espacio vectorial ℝⁿ (o ℝⁿˣᵐ para matrices). El cálculo es siempre componente a componente.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88952" cy="381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2471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Producto de Hadamard ≠ Producto matricial: distinción crítica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12700"/>
          </a:xfrm>
          <a:prstGeom prst="rect">
            <a:avLst/>
          </a:prstGeom>
          <a:solidFill>
            <a:srgbClr val="CC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379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DD"/>
                </a:solidFill>
                <a:latin typeface="Calibri"/>
              </a:rPr>
              <a:t>Análisis de Datos con Python · 4° año ICM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960120"/>
            <a:ext cx="11430000" cy="777240"/>
          </a:xfrm>
          <a:prstGeom prst="rect">
            <a:avLst/>
          </a:prstGeom>
          <a:solidFill>
            <a:srgbClr val="FF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960120"/>
            <a:ext cx="63500" cy="77724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00584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94560"/>
                </a:solidFill>
                <a:latin typeface="Calibri"/>
              </a:rPr>
              <a:t>Error frecuente — leer antes de continuar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252728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444455"/>
                </a:solidFill>
                <a:latin typeface="Calibri"/>
              </a:rPr>
              <a:t>El operador * en NumPy es SIEMPRE el producto de Hadamard (componente a componente), NO el producto matricial. Confundir ambos produce errores silenciosos difíciles de detectar.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874519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3460"/>
                </a:solidFill>
                <a:latin typeface="Calibri"/>
              </a:rPr>
              <a:t>Producto de Hadamard  A ⊙ B  (componente a componente):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212848"/>
            <a:ext cx="5394960" cy="2194560"/>
          </a:xfrm>
          <a:prstGeom prst="rect">
            <a:avLst/>
          </a:prstGeom>
          <a:solidFill>
            <a:srgbClr val="F0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5760" y="2212848"/>
            <a:ext cx="50800" cy="219456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286000"/>
            <a:ext cx="5212080" cy="2084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1A1A2E"/>
                </a:solidFill>
                <a:latin typeface="Courier New"/>
              </a:rPr>
              <a:t>A = np.array([[1, 2], [3, 4]])</a:t>
            </a:r>
          </a:p>
          <a:p>
            <a:r>
              <a:rPr sz="1100">
                <a:solidFill>
                  <a:srgbClr val="1A1A2E"/>
                </a:solidFill>
                <a:latin typeface="Courier New"/>
              </a:rPr>
              <a:t>B = np.array([[5, 6], [7, 8]])</a:t>
            </a:r>
          </a:p>
          <a:p>
            <a:r>
              <a:rPr sz="1100">
                <a:solidFill>
                  <a:srgbClr val="1A1A2E"/>
                </a:solidFill>
                <a:latin typeface="Courier New"/>
              </a:rPr>
              <a:t/>
            </a:r>
          </a:p>
          <a:p>
            <a:r>
              <a:rPr sz="1100">
                <a:solidFill>
                  <a:srgbClr val="1A1A2E"/>
                </a:solidFill>
                <a:latin typeface="Courier New"/>
              </a:rPr>
              <a:t>A * B          # → [[5, 12], [21, 32]]</a:t>
            </a:r>
          </a:p>
          <a:p>
            <a:r>
              <a:rPr sz="1100">
                <a:solidFill>
                  <a:srgbClr val="1A1A2E"/>
                </a:solidFill>
                <a:latin typeface="Courier New"/>
              </a:rPr>
              <a:t>               #    componente a componente</a:t>
            </a:r>
          </a:p>
          <a:p>
            <a:r>
              <a:rPr sz="1100">
                <a:solidFill>
                  <a:srgbClr val="1A1A2E"/>
                </a:solidFill>
                <a:latin typeface="Courier New"/>
              </a:rPr>
              <a:t/>
            </a:r>
          </a:p>
          <a:p>
            <a:r>
              <a:rPr sz="1100">
                <a:solidFill>
                  <a:srgbClr val="1A1A2E"/>
                </a:solidFill>
                <a:latin typeface="Courier New"/>
              </a:rPr>
              <a:t># Producto interno de vectores: Σ aᵢbᵢ → escalar</a:t>
            </a:r>
          </a:p>
          <a:p>
            <a:r>
              <a:rPr sz="1100">
                <a:solidFill>
                  <a:srgbClr val="1A1A2E"/>
                </a:solidFill>
                <a:latin typeface="Courier New"/>
              </a:rPr>
              <a:t>a, b = np.array([1,2,3]), np.array([4,5,6])</a:t>
            </a:r>
          </a:p>
          <a:p>
            <a:r>
              <a:rPr sz="1100">
                <a:solidFill>
                  <a:srgbClr val="1A1A2E"/>
                </a:solidFill>
                <a:latin typeface="Courier New"/>
              </a:rPr>
              <a:t>np.dot(a, b)   # → 32  (escalar)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0" y="1874519"/>
            <a:ext cx="5760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3460"/>
                </a:solidFill>
                <a:latin typeface="Calibri"/>
              </a:rPr>
              <a:t>Producto matricial  C = AB  (estándar del álgebra lineal):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35040" y="2212848"/>
            <a:ext cx="5760720" cy="2423160"/>
          </a:xfrm>
          <a:prstGeom prst="rect">
            <a:avLst/>
          </a:prstGeom>
          <a:solidFill>
            <a:srgbClr val="F0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35040" y="2212848"/>
            <a:ext cx="50800" cy="242316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72200" y="2286000"/>
            <a:ext cx="5577840" cy="23134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1A1A2E"/>
                </a:solidFill>
                <a:latin typeface="Courier New"/>
              </a:rPr>
              <a:t>A = np.array([[1, 2, 3], [3, 2, 1]])  # (2×3)</a:t>
            </a:r>
          </a:p>
          <a:p>
            <a:r>
              <a:rPr sz="1100">
                <a:solidFill>
                  <a:srgbClr val="1A1A2E"/>
                </a:solidFill>
                <a:latin typeface="Courier New"/>
              </a:rPr>
              <a:t>B = np.array([[0, 2], [1,-1], [0, 1]]) # (3×2)</a:t>
            </a:r>
          </a:p>
          <a:p>
            <a:r>
              <a:rPr sz="1100">
                <a:solidFill>
                  <a:srgbClr val="1A1A2E"/>
                </a:solidFill>
                <a:latin typeface="Courier New"/>
              </a:rPr>
              <a:t/>
            </a:r>
          </a:p>
          <a:p>
            <a:r>
              <a:rPr sz="1100">
                <a:solidFill>
                  <a:srgbClr val="1A1A2E"/>
                </a:solidFill>
                <a:latin typeface="Courier New"/>
              </a:rPr>
              <a:t># Tres formas equivalentes:</a:t>
            </a:r>
          </a:p>
          <a:p>
            <a:r>
              <a:rPr sz="1100">
                <a:solidFill>
                  <a:srgbClr val="1A1A2E"/>
                </a:solidFill>
                <a:latin typeface="Courier New"/>
              </a:rPr>
              <a:t>np.matmul(A, B)   # → (2×2)</a:t>
            </a:r>
          </a:p>
          <a:p>
            <a:r>
              <a:rPr sz="1100">
                <a:solidFill>
                  <a:srgbClr val="1A1A2E"/>
                </a:solidFill>
                <a:latin typeface="Courier New"/>
              </a:rPr>
              <a:t>A @ B             # → (2×2)  ← PREFERIDO</a:t>
            </a:r>
          </a:p>
          <a:p>
            <a:r>
              <a:rPr sz="1100">
                <a:solidFill>
                  <a:srgbClr val="1A1A2E"/>
                </a:solidFill>
                <a:latin typeface="Courier New"/>
              </a:rPr>
              <a:t>np.dot(A, B)      # → (2×2)  (para 2D)</a:t>
            </a:r>
          </a:p>
          <a:p>
            <a:r>
              <a:rPr sz="1100">
                <a:solidFill>
                  <a:srgbClr val="1A1A2E"/>
                </a:solidFill>
                <a:latin typeface="Courier New"/>
              </a:rPr>
              <a:t/>
            </a:r>
          </a:p>
          <a:p>
            <a:r>
              <a:rPr sz="1100">
                <a:solidFill>
                  <a:srgbClr val="1A1A2E"/>
                </a:solidFill>
                <a:latin typeface="Courier New"/>
              </a:rPr>
              <a:t># ¡No conmutativo!</a:t>
            </a:r>
          </a:p>
          <a:p>
            <a:r>
              <a:rPr sz="1100">
                <a:solidFill>
                  <a:srgbClr val="1A1A2E"/>
                </a:solidFill>
                <a:latin typeface="Courier New"/>
              </a:rPr>
              <a:t>A @ B  !=  B @ A  # en general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4663440"/>
            <a:ext cx="54864" cy="27432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700016"/>
            <a:ext cx="11155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55"/>
                </a:solidFill>
                <a:latin typeface="Courier New"/>
              </a:rPr>
              <a:t>A * B                  Hadamard (componente a componente)     — requiere misma geometría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5010912"/>
            <a:ext cx="54864" cy="27432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5047488"/>
            <a:ext cx="11155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55"/>
                </a:solidFill>
                <a:latin typeface="Courier New"/>
              </a:rPr>
              <a:t>A @ B                  Producto matricial estándar            — requiere cols(A) = filas(B)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5358384"/>
            <a:ext cx="54864" cy="27432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5394960"/>
            <a:ext cx="11155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55"/>
                </a:solidFill>
                <a:latin typeface="Courier New"/>
              </a:rPr>
              <a:t>np.dot(a, b)           Producto interno de vectores 1D        — devuelve escalar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88952" cy="381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2471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Norma, valor absoluto y submódulo de álgebra lineal np.linalg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12700"/>
          </a:xfrm>
          <a:prstGeom prst="rect">
            <a:avLst/>
          </a:prstGeom>
          <a:solidFill>
            <a:srgbClr val="CC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379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DD"/>
                </a:solidFill>
                <a:latin typeface="Calibri"/>
              </a:rPr>
              <a:t>Análisis de Datos con Python · 4° año ICM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960120"/>
            <a:ext cx="5486400" cy="2697480"/>
          </a:xfrm>
          <a:prstGeom prst="rect">
            <a:avLst/>
          </a:prstGeom>
          <a:solidFill>
            <a:srgbClr val="F0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960120"/>
            <a:ext cx="50800" cy="269748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033272"/>
            <a:ext cx="5303520" cy="2587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1A1A2E"/>
                </a:solidFill>
                <a:latin typeface="Courier New"/>
              </a:rPr>
              <a:t># Valor absoluto (componente a componente)</a:t>
            </a:r>
          </a:p>
          <a:p>
            <a:r>
              <a:rPr sz="1100">
                <a:solidFill>
                  <a:srgbClr val="1A1A2E"/>
                </a:solidFill>
                <a:latin typeface="Courier New"/>
              </a:rPr>
              <a:t>A = np.array([[-1,-6,7],[5,-3,-4]])</a:t>
            </a:r>
          </a:p>
          <a:p>
            <a:r>
              <a:rPr sz="1100">
                <a:solidFill>
                  <a:srgbClr val="1A1A2E"/>
                </a:solidFill>
                <a:latin typeface="Courier New"/>
              </a:rPr>
              <a:t>np.abs(A)          # → [[1,6,7],[5,3,4]]</a:t>
            </a:r>
          </a:p>
          <a:p>
            <a:r>
              <a:rPr sz="1100">
                <a:solidFill>
                  <a:srgbClr val="1A1A2E"/>
                </a:solidFill>
                <a:latin typeface="Courier New"/>
              </a:rPr>
              <a:t/>
            </a:r>
          </a:p>
          <a:p>
            <a:r>
              <a:rPr sz="1100">
                <a:solidFill>
                  <a:srgbClr val="1A1A2E"/>
                </a:solidFill>
                <a:latin typeface="Courier New"/>
              </a:rPr>
              <a:t># Con complejos: calcula módulo |z| = sqrt(a²+b²)</a:t>
            </a:r>
          </a:p>
          <a:p>
            <a:r>
              <a:rPr sz="1100">
                <a:solidFill>
                  <a:srgbClr val="1A1A2E"/>
                </a:solidFill>
                <a:latin typeface="Courier New"/>
              </a:rPr>
              <a:t>Z = np.array([2-3j, 4+1j])</a:t>
            </a:r>
          </a:p>
          <a:p>
            <a:r>
              <a:rPr sz="1100">
                <a:solidFill>
                  <a:srgbClr val="1A1A2E"/>
                </a:solidFill>
                <a:latin typeface="Courier New"/>
              </a:rPr>
              <a:t>np.abs(Z)          # → [sqrt(13), sqrt(17)]</a:t>
            </a:r>
          </a:p>
          <a:p>
            <a:r>
              <a:rPr sz="1100">
                <a:solidFill>
                  <a:srgbClr val="1A1A2E"/>
                </a:solidFill>
                <a:latin typeface="Courier New"/>
              </a:rPr>
              <a:t/>
            </a:r>
          </a:p>
          <a:p>
            <a:r>
              <a:rPr sz="1100">
                <a:solidFill>
                  <a:srgbClr val="1A1A2E"/>
                </a:solidFill>
                <a:latin typeface="Courier New"/>
              </a:rPr>
              <a:t># Norma Euclidiana (L2)</a:t>
            </a:r>
          </a:p>
          <a:p>
            <a:r>
              <a:rPr sz="1100">
                <a:solidFill>
                  <a:srgbClr val="1A1A2E"/>
                </a:solidFill>
                <a:latin typeface="Courier New"/>
              </a:rPr>
              <a:t>x = np.array([1, -1, 4, -8, 0, -2])</a:t>
            </a:r>
          </a:p>
          <a:p>
            <a:r>
              <a:rPr sz="1100">
                <a:solidFill>
                  <a:srgbClr val="1A1A2E"/>
                </a:solidFill>
                <a:latin typeface="Courier New"/>
              </a:rPr>
              <a:t>np.linalg.norm(x)  # = sqrt(1+1+16+64+0+4) ≈ 9.27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0" y="960120"/>
            <a:ext cx="5760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3460"/>
                </a:solidFill>
                <a:latin typeface="Calibri"/>
              </a:rPr>
              <a:t>El submódulo np.linalg: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35040" y="1298448"/>
            <a:ext cx="5760720" cy="274320"/>
          </a:xfrm>
          <a:prstGeom prst="rect">
            <a:avLst/>
          </a:prstGeom>
          <a:solidFill>
            <a:srgbClr val="F4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0" y="1344168"/>
            <a:ext cx="2743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3460"/>
                </a:solidFill>
                <a:latin typeface="Courier New"/>
              </a:rPr>
              <a:t>np.linalg.norm(x)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06840" y="1344168"/>
            <a:ext cx="2651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55"/>
                </a:solidFill>
                <a:latin typeface="Calibri"/>
              </a:rPr>
              <a:t>Norma de vector o matriz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35040" y="1572768"/>
            <a:ext cx="576072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0" y="1618488"/>
            <a:ext cx="2743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3460"/>
                </a:solidFill>
                <a:latin typeface="Courier New"/>
              </a:rPr>
              <a:t>np.linalg.det(A)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06840" y="1618488"/>
            <a:ext cx="2651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55"/>
                </a:solidFill>
                <a:latin typeface="Calibri"/>
              </a:rPr>
              <a:t>Determinante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35040" y="1847088"/>
            <a:ext cx="5760720" cy="274320"/>
          </a:xfrm>
          <a:prstGeom prst="rect">
            <a:avLst/>
          </a:prstGeom>
          <a:solidFill>
            <a:srgbClr val="F4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26480" y="1892808"/>
            <a:ext cx="2743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3460"/>
                </a:solidFill>
                <a:latin typeface="Courier New"/>
              </a:rPr>
              <a:t>np.linalg.eig(A)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06840" y="1892808"/>
            <a:ext cx="2651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55"/>
                </a:solidFill>
                <a:latin typeface="Calibri"/>
              </a:rPr>
              <a:t>Valores y vectores propios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35040" y="2121408"/>
            <a:ext cx="576072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26480" y="2167128"/>
            <a:ext cx="2743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3460"/>
                </a:solidFill>
                <a:latin typeface="Courier New"/>
              </a:rPr>
              <a:t>np.linalg.svd(A)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06840" y="2167128"/>
            <a:ext cx="2651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55"/>
                </a:solidFill>
                <a:latin typeface="Calibri"/>
              </a:rPr>
              <a:t>Descomposición SVD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35040" y="2395728"/>
            <a:ext cx="5760720" cy="274320"/>
          </a:xfrm>
          <a:prstGeom prst="rect">
            <a:avLst/>
          </a:prstGeom>
          <a:solidFill>
            <a:srgbClr val="F4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26480" y="2441448"/>
            <a:ext cx="2743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3460"/>
                </a:solidFill>
                <a:latin typeface="Courier New"/>
              </a:rPr>
              <a:t>np.linalg.solve(A, b)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06840" y="2441448"/>
            <a:ext cx="2651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55"/>
                </a:solidFill>
                <a:latin typeface="Calibri"/>
              </a:rPr>
              <a:t>Resolver sistema Ax = b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35040" y="2670048"/>
            <a:ext cx="576072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26480" y="2715768"/>
            <a:ext cx="2743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3460"/>
                </a:solidFill>
                <a:latin typeface="Courier New"/>
              </a:rPr>
              <a:t>np.linalg.pinv(A)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06840" y="2715768"/>
            <a:ext cx="2651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55"/>
                </a:solidFill>
                <a:latin typeface="Calibri"/>
              </a:rPr>
              <a:t>Pseudoinversa (mínimos cuadrados)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35040" y="2944368"/>
            <a:ext cx="5760720" cy="274320"/>
          </a:xfrm>
          <a:prstGeom prst="rect">
            <a:avLst/>
          </a:prstGeom>
          <a:solidFill>
            <a:srgbClr val="F4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26480" y="2990088"/>
            <a:ext cx="2743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3460"/>
                </a:solidFill>
                <a:latin typeface="Courier New"/>
              </a:rPr>
              <a:t>np.linalg.inv(A)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06840" y="2990088"/>
            <a:ext cx="2651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55"/>
                </a:solidFill>
                <a:latin typeface="Calibri"/>
              </a:rPr>
              <a:t>Inversa (solo si A es cuadrada y regular)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3749039"/>
            <a:ext cx="5394960" cy="1005840"/>
          </a:xfrm>
          <a:prstGeom prst="rect">
            <a:avLst/>
          </a:prstGeom>
          <a:solidFill>
            <a:srgbClr val="F0F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65760" y="3749039"/>
            <a:ext cx="63500" cy="1005840"/>
          </a:xfrm>
          <a:prstGeom prst="rect">
            <a:avLst/>
          </a:prstGeom>
          <a:solidFill>
            <a:srgbClr val="1D9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2920" y="3794759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D9A6C"/>
                </a:solidFill>
                <a:latin typeface="Calibri"/>
              </a:rPr>
              <a:t>Aplicación en minería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4041647"/>
            <a:ext cx="5212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444455"/>
                </a:solidFill>
                <a:latin typeface="Calibri"/>
              </a:rPr>
              <a:t>np.linalg.solve() permite resolver sistemas de balance de masa y restricciones de proceso. np.linalg.pinv() implementa ajuste por mínimos cuadrados en estimación de parámetros.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88952" cy="381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2471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Funciones matemáticas: trigonometría, logaritmos, exponenciales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12700"/>
          </a:xfrm>
          <a:prstGeom prst="rect">
            <a:avLst/>
          </a:prstGeom>
          <a:solidFill>
            <a:srgbClr val="CC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379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DD"/>
                </a:solidFill>
                <a:latin typeface="Calibri"/>
              </a:rPr>
              <a:t>Análisis de Datos con Python · 4° año ICM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960120"/>
            <a:ext cx="5486400" cy="2743200"/>
          </a:xfrm>
          <a:prstGeom prst="rect">
            <a:avLst/>
          </a:prstGeom>
          <a:solidFill>
            <a:srgbClr val="F0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960120"/>
            <a:ext cx="50800" cy="27432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033272"/>
            <a:ext cx="5303520" cy="2633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1A1A2E"/>
                </a:solidFill>
                <a:latin typeface="Courier New"/>
              </a:rPr>
              <a:t># Funciones trigonométricas</a:t>
            </a:r>
          </a:p>
          <a:p>
            <a:r>
              <a:rPr sz="1100">
                <a:solidFill>
                  <a:srgbClr val="1A1A2E"/>
                </a:solidFill>
                <a:latin typeface="Courier New"/>
              </a:rPr>
              <a:t>theta = np.linspace(0, np.pi, 4)</a:t>
            </a:r>
          </a:p>
          <a:p>
            <a:r>
              <a:rPr sz="1100">
                <a:solidFill>
                  <a:srgbClr val="1A1A2E"/>
                </a:solidFill>
                <a:latin typeface="Courier New"/>
              </a:rPr>
              <a:t/>
            </a:r>
          </a:p>
          <a:p>
            <a:r>
              <a:rPr sz="1100">
                <a:solidFill>
                  <a:srgbClr val="1A1A2E"/>
                </a:solidFill>
                <a:latin typeface="Courier New"/>
              </a:rPr>
              <a:t>np.sin(theta)   # seno</a:t>
            </a:r>
          </a:p>
          <a:p>
            <a:r>
              <a:rPr sz="1100">
                <a:solidFill>
                  <a:srgbClr val="1A1A2E"/>
                </a:solidFill>
                <a:latin typeface="Courier New"/>
              </a:rPr>
              <a:t>np.cos(theta)   # coseno</a:t>
            </a:r>
          </a:p>
          <a:p>
            <a:r>
              <a:rPr sz="1100">
                <a:solidFill>
                  <a:srgbClr val="1A1A2E"/>
                </a:solidFill>
                <a:latin typeface="Courier New"/>
              </a:rPr>
              <a:t>np.tan(theta)   # tangente</a:t>
            </a:r>
          </a:p>
          <a:p>
            <a:r>
              <a:rPr sz="1100">
                <a:solidFill>
                  <a:srgbClr val="1A1A2E"/>
                </a:solidFill>
                <a:latin typeface="Courier New"/>
              </a:rPr>
              <a:t/>
            </a:r>
          </a:p>
          <a:p>
            <a:r>
              <a:rPr sz="1100">
                <a:solidFill>
                  <a:srgbClr val="1A1A2E"/>
                </a:solidFill>
                <a:latin typeface="Courier New"/>
              </a:rPr>
              <a:t>np.arcsin([-1, 0, 1])  # inversa seno</a:t>
            </a:r>
          </a:p>
          <a:p>
            <a:r>
              <a:rPr sz="1100">
                <a:solidFill>
                  <a:srgbClr val="1A1A2E"/>
                </a:solidFill>
                <a:latin typeface="Courier New"/>
              </a:rPr>
              <a:t>np.arccos([-1, 0, 1])  # inversa coseno</a:t>
            </a:r>
          </a:p>
          <a:p>
            <a:r>
              <a:rPr sz="1100">
                <a:solidFill>
                  <a:srgbClr val="1A1A2E"/>
                </a:solidFill>
                <a:latin typeface="Courier New"/>
              </a:rPr>
              <a:t>np.arctan([-1, 0, 1])  # inversa tangente</a:t>
            </a:r>
          </a:p>
          <a:p>
            <a:r>
              <a:rPr sz="1100">
                <a:solidFill>
                  <a:srgbClr val="1A1A2E"/>
                </a:solidFill>
                <a:latin typeface="Courier New"/>
              </a:rPr>
              <a:t/>
            </a:r>
          </a:p>
          <a:p>
            <a:r>
              <a:rPr sz="1100">
                <a:solidFill>
                  <a:srgbClr val="1A1A2E"/>
                </a:solidFill>
                <a:latin typeface="Courier New"/>
              </a:rPr>
              <a:t>np.rad2deg(theta)  # radianes → grados</a:t>
            </a:r>
          </a:p>
          <a:p>
            <a:r>
              <a:rPr sz="1100">
                <a:solidFill>
                  <a:srgbClr val="1A1A2E"/>
                </a:solidFill>
                <a:latin typeface="Courier New"/>
              </a:rPr>
              <a:t>np.deg2rad(theta)  # grados → radianes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35040" y="960120"/>
            <a:ext cx="5760720" cy="3200400"/>
          </a:xfrm>
          <a:prstGeom prst="rect">
            <a:avLst/>
          </a:prstGeom>
          <a:solidFill>
            <a:srgbClr val="F0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035040" y="960120"/>
            <a:ext cx="50800" cy="32004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72200" y="1033272"/>
            <a:ext cx="5577840" cy="30906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1A1A2E"/>
                </a:solidFill>
                <a:latin typeface="Courier New"/>
              </a:rPr>
              <a:t># Exponenciales y logaritmos</a:t>
            </a:r>
          </a:p>
          <a:p>
            <a:r>
              <a:rPr sz="1100">
                <a:solidFill>
                  <a:srgbClr val="1A1A2E"/>
                </a:solidFill>
                <a:latin typeface="Courier New"/>
              </a:rPr>
              <a:t>x = [1, 2, 3, 4, 5]</a:t>
            </a:r>
          </a:p>
          <a:p>
            <a:r>
              <a:rPr sz="1100">
                <a:solidFill>
                  <a:srgbClr val="1A1A2E"/>
                </a:solidFill>
                <a:latin typeface="Courier New"/>
              </a:rPr>
              <a:t/>
            </a:r>
          </a:p>
          <a:p>
            <a:r>
              <a:rPr sz="1100">
                <a:solidFill>
                  <a:srgbClr val="1A1A2E"/>
                </a:solidFill>
                <a:latin typeface="Courier New"/>
              </a:rPr>
              <a:t>np.exp(x)         # e^x</a:t>
            </a:r>
          </a:p>
          <a:p>
            <a:r>
              <a:rPr sz="1100">
                <a:solidFill>
                  <a:srgbClr val="1A1A2E"/>
                </a:solidFill>
                <a:latin typeface="Courier New"/>
              </a:rPr>
              <a:t>np.exp2(x)        # 2^x</a:t>
            </a:r>
          </a:p>
          <a:p>
            <a:r>
              <a:rPr sz="1100">
                <a:solidFill>
                  <a:srgbClr val="1A1A2E"/>
                </a:solidFill>
                <a:latin typeface="Courier New"/>
              </a:rPr>
              <a:t>np.power(3, x)    # 3^x</a:t>
            </a:r>
          </a:p>
          <a:p>
            <a:r>
              <a:rPr sz="1100">
                <a:solidFill>
                  <a:srgbClr val="1A1A2E"/>
                </a:solidFill>
                <a:latin typeface="Courier New"/>
              </a:rPr>
              <a:t>np.sqrt(x)        # sqrt(x)</a:t>
            </a:r>
          </a:p>
          <a:p>
            <a:r>
              <a:rPr sz="1100">
                <a:solidFill>
                  <a:srgbClr val="1A1A2E"/>
                </a:solidFill>
                <a:latin typeface="Courier New"/>
              </a:rPr>
              <a:t/>
            </a:r>
          </a:p>
          <a:p>
            <a:r>
              <a:rPr sz="1100">
                <a:solidFill>
                  <a:srgbClr val="1A1A2E"/>
                </a:solidFill>
                <a:latin typeface="Courier New"/>
              </a:rPr>
              <a:t>np.log(x)         # ln(x)   base natural</a:t>
            </a:r>
          </a:p>
          <a:p>
            <a:r>
              <a:rPr sz="1100">
                <a:solidFill>
                  <a:srgbClr val="1A1A2E"/>
                </a:solidFill>
                <a:latin typeface="Courier New"/>
              </a:rPr>
              <a:t>np.log2(x)        # log₂(x)</a:t>
            </a:r>
          </a:p>
          <a:p>
            <a:r>
              <a:rPr sz="1100">
                <a:solidFill>
                  <a:srgbClr val="1A1A2E"/>
                </a:solidFill>
                <a:latin typeface="Courier New"/>
              </a:rPr>
              <a:t>np.log10(x)       # log₁₀(x)</a:t>
            </a:r>
          </a:p>
          <a:p>
            <a:r>
              <a:rPr sz="1100">
                <a:solidFill>
                  <a:srgbClr val="1A1A2E"/>
                </a:solidFill>
                <a:latin typeface="Courier New"/>
              </a:rPr>
              <a:t/>
            </a:r>
          </a:p>
          <a:p>
            <a:r>
              <a:rPr sz="1100">
                <a:solidFill>
                  <a:srgbClr val="1A1A2E"/>
                </a:solidFill>
                <a:latin typeface="Courier New"/>
              </a:rPr>
              <a:t># Versiones numéricamente estables (x ≈ 0)</a:t>
            </a:r>
          </a:p>
          <a:p>
            <a:r>
              <a:rPr sz="1100">
                <a:solidFill>
                  <a:srgbClr val="1A1A2E"/>
                </a:solidFill>
                <a:latin typeface="Courier New"/>
              </a:rPr>
              <a:t>np.expm1(x)       # exp(x) - 1</a:t>
            </a:r>
          </a:p>
          <a:p>
            <a:r>
              <a:rPr sz="1100">
                <a:solidFill>
                  <a:srgbClr val="1A1A2E"/>
                </a:solidFill>
                <a:latin typeface="Courier New"/>
              </a:rPr>
              <a:t>np.log1p(x)       # ln(1 + x)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840480"/>
            <a:ext cx="11430000" cy="868680"/>
          </a:xfrm>
          <a:prstGeom prst="rect">
            <a:avLst/>
          </a:prstGeom>
          <a:solidFill>
            <a:srgbClr val="FEF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3840480"/>
            <a:ext cx="63500" cy="86868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388620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67E22"/>
                </a:solidFill>
                <a:latin typeface="Calibri"/>
              </a:rPr>
              <a:t>Precisión numérica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133088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444455"/>
                </a:solidFill>
                <a:latin typeface="Calibri"/>
              </a:rPr>
              <a:t>Los resultados son aproximaciones de punto flotante. np.sin(np.pi) no es exactamente 0 sino ~1.2e-16. expm1 y log1p evitan pérdida de precisión cuando el argumento está cerca de cero.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2743200"/>
            <a:ext cx="64008" cy="128016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274320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Módulo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361188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CCCCDD"/>
                </a:solidFill>
                <a:latin typeface="Calibri"/>
              </a:rPr>
              <a:t>Broadcasting · Agregación · Patrones vectorizados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DD"/>
                </a:solidFill>
                <a:latin typeface="Calibri"/>
              </a:rPr>
              <a:t>Análisis de Datos con Python · 4° año ICM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88952" cy="381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2471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Broadcasting: operar con arreglos de distinta geometría sin copias manuales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12700"/>
          </a:xfrm>
          <a:prstGeom prst="rect">
            <a:avLst/>
          </a:prstGeom>
          <a:solidFill>
            <a:srgbClr val="CC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379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DD"/>
                </a:solidFill>
                <a:latin typeface="Calibri"/>
              </a:rPr>
              <a:t>Análisis de Datos con Python · 4° año ICM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960120"/>
            <a:ext cx="11430000" cy="777240"/>
          </a:xfrm>
          <a:prstGeom prst="rect">
            <a:avLst/>
          </a:prstGeom>
          <a:solidFill>
            <a:srgbClr val="FF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960120"/>
            <a:ext cx="63500" cy="77724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00584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94560"/>
                </a:solidFill>
                <a:latin typeface="Calibri"/>
              </a:rPr>
              <a:t>Definición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252728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444455"/>
                </a:solidFill>
                <a:latin typeface="Calibri"/>
              </a:rPr>
              <a:t>Broadcasting es el mecanismo por el cual NumPy puede operar con arreglos de distinta forma, extendiendo virtualmente las dimensiones de tamaño 1. No hay copia real en memoria — la eficiencia se preserva.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874519"/>
            <a:ext cx="5394960" cy="2377440"/>
          </a:xfrm>
          <a:prstGeom prst="rect">
            <a:avLst/>
          </a:prstGeom>
          <a:solidFill>
            <a:srgbClr val="F0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1874519"/>
            <a:ext cx="50800" cy="237744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1947671"/>
            <a:ext cx="5212080" cy="22677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1A1A2E"/>
                </a:solidFill>
                <a:latin typeface="Courier New"/>
              </a:rPr>
              <a:t># Caso 1: arreglo + escalar</a:t>
            </a:r>
          </a:p>
          <a:p>
            <a:r>
              <a:rPr sz="1100">
                <a:solidFill>
                  <a:srgbClr val="1A1A2E"/>
                </a:solidFill>
                <a:latin typeface="Courier New"/>
              </a:rPr>
              <a:t>a = np.array([1.0, 3.0, 5.0, 7.0])</a:t>
            </a:r>
          </a:p>
          <a:p>
            <a:r>
              <a:rPr sz="1100">
                <a:solidFill>
                  <a:srgbClr val="1A1A2E"/>
                </a:solidFill>
                <a:latin typeface="Courier New"/>
              </a:rPr>
              <a:t>a + 2.0   # el escalar 2.0 se 'extiende'</a:t>
            </a:r>
          </a:p>
          <a:p>
            <a:r>
              <a:rPr sz="1100">
                <a:solidFill>
                  <a:srgbClr val="1A1A2E"/>
                </a:solidFill>
                <a:latin typeface="Courier New"/>
              </a:rPr>
              <a:t>          # → [3.0, 5.0, 7.0, 9.0]</a:t>
            </a:r>
          </a:p>
          <a:p>
            <a:r>
              <a:rPr sz="1100">
                <a:solidFill>
                  <a:srgbClr val="1A1A2E"/>
                </a:solidFill>
                <a:latin typeface="Courier New"/>
              </a:rPr>
              <a:t/>
            </a:r>
          </a:p>
          <a:p>
            <a:r>
              <a:rPr sz="1100">
                <a:solidFill>
                  <a:srgbClr val="1A1A2E"/>
                </a:solidFill>
                <a:latin typeface="Courier New"/>
              </a:rPr>
              <a:t># Caso 2: matriz + vector 1D</a:t>
            </a:r>
          </a:p>
          <a:p>
            <a:r>
              <a:rPr sz="1100">
                <a:solidFill>
                  <a:srgbClr val="1A1A2E"/>
                </a:solidFill>
                <a:latin typeface="Courier New"/>
              </a:rPr>
              <a:t>M = np.eye(4)            # (4, 4)</a:t>
            </a:r>
          </a:p>
          <a:p>
            <a:r>
              <a:rPr sz="1100">
                <a:solidFill>
                  <a:srgbClr val="1A1A2E"/>
                </a:solidFill>
                <a:latin typeface="Courier New"/>
              </a:rPr>
              <a:t>a = np.array([1,2,3,4])  # (4,)</a:t>
            </a:r>
          </a:p>
          <a:p>
            <a:r>
              <a:rPr sz="1100">
                <a:solidFill>
                  <a:srgbClr val="1A1A2E"/>
                </a:solidFill>
                <a:latin typeface="Courier New"/>
              </a:rPr>
              <a:t>M + a   # a se extiende sobre cada fila de 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35040" y="1874519"/>
            <a:ext cx="5760720" cy="2377440"/>
          </a:xfrm>
          <a:prstGeom prst="rect">
            <a:avLst/>
          </a:prstGeom>
          <a:solidFill>
            <a:srgbClr val="F0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35040" y="1874519"/>
            <a:ext cx="50800" cy="237744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72200" y="1947671"/>
            <a:ext cx="5577840" cy="22677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1A1A2E"/>
                </a:solidFill>
                <a:latin typeface="Courier New"/>
              </a:rPr>
              <a:t># Caso 3: columna + fila (outer operation)</a:t>
            </a:r>
          </a:p>
          <a:p>
            <a:r>
              <a:rPr sz="1100">
                <a:solidFill>
                  <a:srgbClr val="1A1A2E"/>
                </a:solidFill>
                <a:latin typeface="Courier New"/>
              </a:rPr>
              <a:t>u = np.ones(shape=(1, 3))  # (1, 3)</a:t>
            </a:r>
          </a:p>
          <a:p>
            <a:r>
              <a:rPr sz="1100">
                <a:solidFill>
                  <a:srgbClr val="1A1A2E"/>
                </a:solidFill>
                <a:latin typeface="Courier New"/>
              </a:rPr>
              <a:t>v = np.ones(shape=(3, 1))  # (3, 1)</a:t>
            </a:r>
          </a:p>
          <a:p>
            <a:r>
              <a:rPr sz="1100">
                <a:solidFill>
                  <a:srgbClr val="1A1A2E"/>
                </a:solidFill>
                <a:latin typeface="Courier New"/>
              </a:rPr>
              <a:t>u + v   # resultado: (3, 3) — ambos se extienden</a:t>
            </a:r>
          </a:p>
          <a:p>
            <a:r>
              <a:rPr sz="1100">
                <a:solidFill>
                  <a:srgbClr val="1A1A2E"/>
                </a:solidFill>
                <a:latin typeface="Courier New"/>
              </a:rPr>
              <a:t/>
            </a:r>
          </a:p>
          <a:p>
            <a:r>
              <a:rPr sz="1100">
                <a:solidFill>
                  <a:srgbClr val="1A1A2E"/>
                </a:solidFill>
                <a:latin typeface="Courier New"/>
              </a:rPr>
              <a:t># Caso 4: grilla sin meshgrid</a:t>
            </a:r>
          </a:p>
          <a:p>
            <a:r>
              <a:rPr sz="1100">
                <a:solidFill>
                  <a:srgbClr val="1A1A2E"/>
                </a:solidFill>
                <a:latin typeface="Courier New"/>
              </a:rPr>
              <a:t>X = np.linspace(-1,1,100).reshape(-1, 1)  # (100,1)</a:t>
            </a:r>
          </a:p>
          <a:p>
            <a:r>
              <a:rPr sz="1100">
                <a:solidFill>
                  <a:srgbClr val="1A1A2E"/>
                </a:solidFill>
                <a:latin typeface="Courier New"/>
              </a:rPr>
              <a:t>Y = np.linspace(-1,1,100).reshape(1, -1)  # (1,100)</a:t>
            </a:r>
          </a:p>
          <a:p>
            <a:r>
              <a:rPr sz="1100">
                <a:solidFill>
                  <a:srgbClr val="1A1A2E"/>
                </a:solidFill>
                <a:latin typeface="Courier New"/>
              </a:rPr>
              <a:t>Z = np.arcsinh(X**2 + Y**2)  # (100,100)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88952" cy="381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2471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Las tres reglas del broadcasting: leer de derecha a izquierda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12700"/>
          </a:xfrm>
          <a:prstGeom prst="rect">
            <a:avLst/>
          </a:prstGeom>
          <a:solidFill>
            <a:srgbClr val="CC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379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DD"/>
                </a:solidFill>
                <a:latin typeface="Calibri"/>
              </a:rPr>
              <a:t>Análisis de Datos con Python · 4° año ICM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96012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4455"/>
                </a:solidFill>
                <a:latin typeface="Calibri"/>
              </a:rPr>
              <a:t>NumPy compara geometrías dimensión a dimensión, desde la derecha. Dos dimensiones son compatibles si: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389888"/>
            <a:ext cx="320040" cy="3200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426464"/>
            <a:ext cx="320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1444752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4455"/>
                </a:solidFill>
                <a:latin typeface="Calibri"/>
              </a:rPr>
              <a:t>Son iguales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847088"/>
            <a:ext cx="320040" cy="3200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1883664"/>
            <a:ext cx="320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1901952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4455"/>
                </a:solidFill>
                <a:latin typeface="Calibri"/>
              </a:rPr>
              <a:t>Una de ellas es igual a 1 (esa se 'extiende' al valor de la otra)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239572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44455"/>
                </a:solidFill>
                <a:latin typeface="Calibri"/>
              </a:rPr>
              <a:t>Procedimiento mental: (1) igualar dims agregando 1s a la izquierda · (2) comparar de derecha a izquierda · (3) extender solo dims compatibles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834640"/>
            <a:ext cx="347472" cy="347472"/>
          </a:xfrm>
          <a:prstGeom prst="rect">
            <a:avLst/>
          </a:prstGeom>
          <a:solidFill>
            <a:srgbClr val="1D9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2871216"/>
            <a:ext cx="3474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2889504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55"/>
                </a:solidFill>
                <a:latin typeface="Courier New"/>
              </a:rPr>
              <a:t>(2, 3)  +  (3,) → (1,3)   ultima: 3=3 ✓  | primera: 2 y 1 ✓   → (2,3)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310128"/>
            <a:ext cx="347472" cy="347472"/>
          </a:xfrm>
          <a:prstGeom prst="rect">
            <a:avLst/>
          </a:prstGeom>
          <a:solidFill>
            <a:srgbClr val="1D9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3346704"/>
            <a:ext cx="3474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33649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55"/>
                </a:solidFill>
                <a:latin typeface="Courier New"/>
              </a:rPr>
              <a:t>(3, 1)  +  (3,) → (1,3)   ultima: 1 y 3 ✓ | primera: 3 y 1 ✓   → (3,3)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785616"/>
            <a:ext cx="347472" cy="347472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3822192"/>
            <a:ext cx="3474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✗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38404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55"/>
                </a:solidFill>
                <a:latin typeface="Courier New"/>
              </a:rPr>
              <a:t>(3, 2)  +  (3,) → (1,3)   ultima: 2 ≠ 3 y ninguna es 1  → ERROR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4389120"/>
            <a:ext cx="11430000" cy="1920240"/>
          </a:xfrm>
          <a:prstGeom prst="rect">
            <a:avLst/>
          </a:prstGeom>
          <a:solidFill>
            <a:srgbClr val="F0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65760" y="4389120"/>
            <a:ext cx="50800" cy="192024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4462272"/>
            <a:ext cx="11247120" cy="18105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1A1A2E"/>
                </a:solidFill>
                <a:latin typeface="Courier New"/>
              </a:rPr>
              <a:t># Estandarización z-score — Broadcasting en acción</a:t>
            </a:r>
          </a:p>
          <a:p>
            <a:r>
              <a:rPr sz="1100">
                <a:solidFill>
                  <a:srgbClr val="1A1A2E"/>
                </a:solidFill>
                <a:latin typeface="Courier New"/>
              </a:rPr>
              <a:t># T: (10, 3) — 10 muestras de proceso minero × 3 variables</a:t>
            </a:r>
          </a:p>
          <a:p>
            <a:r>
              <a:rPr sz="1100">
                <a:solidFill>
                  <a:srgbClr val="1A1A2E"/>
                </a:solidFill>
                <a:latin typeface="Courier New"/>
              </a:rPr>
              <a:t>T = np.vstack([t, p, g]).T</a:t>
            </a:r>
          </a:p>
          <a:p>
            <a:r>
              <a:rPr sz="1100">
                <a:solidFill>
                  <a:srgbClr val="1A1A2E"/>
                </a:solidFill>
                <a:latin typeface="Courier New"/>
              </a:rPr>
              <a:t/>
            </a:r>
          </a:p>
          <a:p>
            <a:r>
              <a:rPr sz="1100">
                <a:solidFill>
                  <a:srgbClr val="1A1A2E"/>
                </a:solidFill>
                <a:latin typeface="Courier New"/>
              </a:rPr>
              <a:t># mean y std son (3,) — broadcasting extiende a (10, 3)</a:t>
            </a:r>
          </a:p>
          <a:p>
            <a:r>
              <a:rPr sz="1100">
                <a:solidFill>
                  <a:srgbClr val="1A1A2E"/>
                </a:solidFill>
                <a:latin typeface="Courier New"/>
              </a:rPr>
              <a:t>Z = (T - T.mean(axis=0)) / T.std(axis=0)</a:t>
            </a:r>
          </a:p>
          <a:p>
            <a:r>
              <a:rPr sz="1100">
                <a:solidFill>
                  <a:srgbClr val="1A1A2E"/>
                </a:solidFill>
                <a:latin typeface="Courier New"/>
              </a:rPr>
              <a:t/>
            </a:r>
          </a:p>
          <a:p>
            <a:r>
              <a:rPr sz="1100">
                <a:solidFill>
                  <a:srgbClr val="1A1A2E"/>
                </a:solidFill>
                <a:latin typeface="Courier New"/>
              </a:rPr>
              <a:t>Z.mean(axis=0)  # ≈ [0, 0, 0]</a:t>
            </a:r>
          </a:p>
          <a:p>
            <a:r>
              <a:rPr sz="1100">
                <a:solidFill>
                  <a:srgbClr val="1A1A2E"/>
                </a:solidFill>
                <a:latin typeface="Courier New"/>
              </a:rPr>
              <a:t>Z.std(axis=0)   # ≈ [1, 1, 1]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88952" cy="381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2471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Operaciones de agregación: resumir información por eje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12700"/>
          </a:xfrm>
          <a:prstGeom prst="rect">
            <a:avLst/>
          </a:prstGeom>
          <a:solidFill>
            <a:srgbClr val="CC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379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DD"/>
                </a:solidFill>
                <a:latin typeface="Calibri"/>
              </a:rPr>
              <a:t>Análisis de Datos con Python · 4° año ICM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960120"/>
            <a:ext cx="5486400" cy="3291840"/>
          </a:xfrm>
          <a:prstGeom prst="rect">
            <a:avLst/>
          </a:prstGeom>
          <a:solidFill>
            <a:srgbClr val="F0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960120"/>
            <a:ext cx="50800" cy="329184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033272"/>
            <a:ext cx="5303520" cy="31821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1A1A2E"/>
                </a:solidFill>
                <a:latin typeface="Courier New"/>
              </a:rPr>
              <a:t>A = rng.integers(1, 10, size=(5, 10))</a:t>
            </a:r>
          </a:p>
          <a:p>
            <a:r>
              <a:rPr sz="1100">
                <a:solidFill>
                  <a:srgbClr val="1A1A2E"/>
                </a:solidFill>
                <a:latin typeface="Courier New"/>
              </a:rPr>
              <a:t/>
            </a:r>
          </a:p>
          <a:p>
            <a:r>
              <a:rPr sz="1100">
                <a:solidFill>
                  <a:srgbClr val="1A1A2E"/>
                </a:solidFill>
                <a:latin typeface="Courier New"/>
              </a:rPr>
              <a:t># Suma</a:t>
            </a:r>
          </a:p>
          <a:p>
            <a:r>
              <a:rPr sz="1100">
                <a:solidFill>
                  <a:srgbClr val="1A1A2E"/>
                </a:solidFill>
                <a:latin typeface="Courier New"/>
              </a:rPr>
              <a:t>A.sum()         # escalar: suma total</a:t>
            </a:r>
          </a:p>
          <a:p>
            <a:r>
              <a:rPr sz="1100">
                <a:solidFill>
                  <a:srgbClr val="1A1A2E"/>
                </a:solidFill>
                <a:latin typeface="Courier New"/>
              </a:rPr>
              <a:t>A.sum(axis=1)   # (5,): una suma por fila</a:t>
            </a:r>
          </a:p>
          <a:p>
            <a:r>
              <a:rPr sz="1100">
                <a:solidFill>
                  <a:srgbClr val="1A1A2E"/>
                </a:solidFill>
                <a:latin typeface="Courier New"/>
              </a:rPr>
              <a:t>A.sum(axis=0)   # (10,): una suma por columna</a:t>
            </a:r>
          </a:p>
          <a:p>
            <a:r>
              <a:rPr sz="1100">
                <a:solidFill>
                  <a:srgbClr val="1A1A2E"/>
                </a:solidFill>
                <a:latin typeface="Courier New"/>
              </a:rPr>
              <a:t/>
            </a:r>
          </a:p>
          <a:p>
            <a:r>
              <a:rPr sz="1100">
                <a:solidFill>
                  <a:srgbClr val="1A1A2E"/>
                </a:solidFill>
                <a:latin typeface="Courier New"/>
              </a:rPr>
              <a:t># Suma acumulada (no colapsa el eje)</a:t>
            </a:r>
          </a:p>
          <a:p>
            <a:r>
              <a:rPr sz="1100">
                <a:solidFill>
                  <a:srgbClr val="1A1A2E"/>
                </a:solidFill>
                <a:latin typeface="Courier New"/>
              </a:rPr>
              <a:t>A.cumsum(axis=1)   # misma shape que A</a:t>
            </a:r>
          </a:p>
          <a:p>
            <a:r>
              <a:rPr sz="1100">
                <a:solidFill>
                  <a:srgbClr val="1A1A2E"/>
                </a:solidFill>
                <a:latin typeface="Courier New"/>
              </a:rPr>
              <a:t/>
            </a:r>
          </a:p>
          <a:p>
            <a:r>
              <a:rPr sz="1100">
                <a:solidFill>
                  <a:srgbClr val="1A1A2E"/>
                </a:solidFill>
                <a:latin typeface="Courier New"/>
              </a:rPr>
              <a:t># Estadísticas</a:t>
            </a:r>
          </a:p>
          <a:p>
            <a:r>
              <a:rPr sz="1100">
                <a:solidFill>
                  <a:srgbClr val="1A1A2E"/>
                </a:solidFill>
                <a:latin typeface="Courier New"/>
              </a:rPr>
              <a:t>A.mean(axis=0)     # media por columna</a:t>
            </a:r>
          </a:p>
          <a:p>
            <a:r>
              <a:rPr sz="1100">
                <a:solidFill>
                  <a:srgbClr val="1A1A2E"/>
                </a:solidFill>
                <a:latin typeface="Courier New"/>
              </a:rPr>
              <a:t>A.std(axis=0)      # desv.est. por columna</a:t>
            </a:r>
          </a:p>
          <a:p>
            <a:r>
              <a:rPr sz="1100">
                <a:solidFill>
                  <a:srgbClr val="1A1A2E"/>
                </a:solidFill>
                <a:latin typeface="Courier New"/>
              </a:rPr>
              <a:t>A.max(); A.argmax()  # máximo y su posición</a:t>
            </a:r>
          </a:p>
          <a:p>
            <a:r>
              <a:rPr sz="1100">
                <a:solidFill>
                  <a:srgbClr val="1A1A2E"/>
                </a:solidFill>
                <a:latin typeface="Courier New"/>
              </a:rPr>
              <a:t>A.min(); A.argmin(axis=1)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0" y="960120"/>
            <a:ext cx="5760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3460"/>
                </a:solidFill>
                <a:latin typeface="Calibri"/>
              </a:rPr>
              <a:t>Tabla de funciones de agregación: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35040" y="1298448"/>
            <a:ext cx="5760720" cy="2743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0" y="1344168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Función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1000" y="1344168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Versión con NaN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0" y="1344168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Descripción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35040" y="1572768"/>
            <a:ext cx="5760720" cy="246888"/>
          </a:xfrm>
          <a:prstGeom prst="rect">
            <a:avLst/>
          </a:prstGeom>
          <a:solidFill>
            <a:srgbClr val="F4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6480" y="1609344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F3460"/>
                </a:solidFill>
                <a:latin typeface="Courier New"/>
              </a:rPr>
              <a:t>np.sum()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01000" y="1609344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455"/>
                </a:solidFill>
                <a:latin typeface="Courier New"/>
              </a:rPr>
              <a:t>np.nansum()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0" y="1609344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455"/>
                </a:solidFill>
                <a:latin typeface="Calibri"/>
              </a:rPr>
              <a:t>Suma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35040" y="1819656"/>
            <a:ext cx="5760720" cy="246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26480" y="1856232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F3460"/>
                </a:solidFill>
                <a:latin typeface="Courier New"/>
              </a:rPr>
              <a:t>np.prod()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01000" y="1856232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455"/>
                </a:solidFill>
                <a:latin typeface="Courier New"/>
              </a:rPr>
              <a:t>np.nanprod()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0" y="1856232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455"/>
                </a:solidFill>
                <a:latin typeface="Calibri"/>
              </a:rPr>
              <a:t>Producto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35040" y="2066544"/>
            <a:ext cx="5760720" cy="246888"/>
          </a:xfrm>
          <a:prstGeom prst="rect">
            <a:avLst/>
          </a:prstGeom>
          <a:solidFill>
            <a:srgbClr val="F4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26480" y="2103120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F3460"/>
                </a:solidFill>
                <a:latin typeface="Courier New"/>
              </a:rPr>
              <a:t>np.mean()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01000" y="2103120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455"/>
                </a:solidFill>
                <a:latin typeface="Courier New"/>
              </a:rPr>
              <a:t>np.nanmean()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0" y="210312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455"/>
                </a:solidFill>
                <a:latin typeface="Calibri"/>
              </a:rPr>
              <a:t>Media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35040" y="2313432"/>
            <a:ext cx="5760720" cy="246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26480" y="2350008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F3460"/>
                </a:solidFill>
                <a:latin typeface="Courier New"/>
              </a:rPr>
              <a:t>np.std()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01000" y="2350008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455"/>
                </a:solidFill>
                <a:latin typeface="Courier New"/>
              </a:rPr>
              <a:t>np.nanstd()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0" y="2350008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455"/>
                </a:solidFill>
                <a:latin typeface="Calibri"/>
              </a:rPr>
              <a:t>Desv. estándar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035040" y="2560320"/>
            <a:ext cx="5760720" cy="246888"/>
          </a:xfrm>
          <a:prstGeom prst="rect">
            <a:avLst/>
          </a:prstGeom>
          <a:solidFill>
            <a:srgbClr val="F4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26480" y="2596896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F3460"/>
                </a:solidFill>
                <a:latin typeface="Courier New"/>
              </a:rPr>
              <a:t>np.var()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01000" y="2596896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455"/>
                </a:solidFill>
                <a:latin typeface="Courier New"/>
              </a:rPr>
              <a:t>np.nanvar()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0" y="2596896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455"/>
                </a:solidFill>
                <a:latin typeface="Calibri"/>
              </a:rPr>
              <a:t>Varianza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035040" y="2807208"/>
            <a:ext cx="5760720" cy="246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126480" y="2843784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F3460"/>
                </a:solidFill>
                <a:latin typeface="Courier New"/>
              </a:rPr>
              <a:t>np.min()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01000" y="2843784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455"/>
                </a:solidFill>
                <a:latin typeface="Courier New"/>
              </a:rPr>
              <a:t>np.nanmin()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058400" y="2843784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455"/>
                </a:solidFill>
                <a:latin typeface="Calibri"/>
              </a:rPr>
              <a:t>Mínimo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035040" y="3054096"/>
            <a:ext cx="5760720" cy="246888"/>
          </a:xfrm>
          <a:prstGeom prst="rect">
            <a:avLst/>
          </a:prstGeom>
          <a:solidFill>
            <a:srgbClr val="F4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126480" y="3090672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F3460"/>
                </a:solidFill>
                <a:latin typeface="Courier New"/>
              </a:rPr>
              <a:t>np.max()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01000" y="3090672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455"/>
                </a:solidFill>
                <a:latin typeface="Courier New"/>
              </a:rPr>
              <a:t>np.nanmax()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058400" y="3090672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455"/>
                </a:solidFill>
                <a:latin typeface="Calibri"/>
              </a:rPr>
              <a:t>Máximo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035040" y="3300984"/>
            <a:ext cx="5760720" cy="246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126480" y="3337560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F3460"/>
                </a:solidFill>
                <a:latin typeface="Courier New"/>
              </a:rPr>
              <a:t>np.median()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001000" y="3337560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455"/>
                </a:solidFill>
                <a:latin typeface="Courier New"/>
              </a:rPr>
              <a:t>np.nanmedian()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058400" y="333756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455"/>
                </a:solidFill>
                <a:latin typeface="Calibri"/>
              </a:rPr>
              <a:t>Mediana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035040" y="3547872"/>
            <a:ext cx="5760720" cy="246888"/>
          </a:xfrm>
          <a:prstGeom prst="rect">
            <a:avLst/>
          </a:prstGeom>
          <a:solidFill>
            <a:srgbClr val="F4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126480" y="3584448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F3460"/>
                </a:solidFill>
                <a:latin typeface="Courier New"/>
              </a:rPr>
              <a:t>np.argmin()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001000" y="3584448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455"/>
                </a:solidFill>
                <a:latin typeface="Courier New"/>
              </a:rPr>
              <a:t>np.nanargmin()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058400" y="3584448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455"/>
                </a:solidFill>
                <a:latin typeface="Calibri"/>
              </a:rPr>
              <a:t>Índice del mínimo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035040" y="3794760"/>
            <a:ext cx="5760720" cy="246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126480" y="3831336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F3460"/>
                </a:solidFill>
                <a:latin typeface="Courier New"/>
              </a:rPr>
              <a:t>np.argmax()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001000" y="3831336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455"/>
                </a:solidFill>
                <a:latin typeface="Courier New"/>
              </a:rPr>
              <a:t>np.nanargmax()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058400" y="3831336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455"/>
                </a:solidFill>
                <a:latin typeface="Calibri"/>
              </a:rPr>
              <a:t>Índice del máximo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2743200"/>
            <a:ext cx="64008" cy="128016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274320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Módulo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361188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CCCCDD"/>
                </a:solidFill>
                <a:latin typeface="Calibri"/>
              </a:rPr>
              <a:t>Comparación · Masking · Fancy Indexing · Ordenamiento · Reemplazo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DD"/>
                </a:solidFill>
                <a:latin typeface="Calibri"/>
              </a:rPr>
              <a:t>Análisis de Datos con Python · 4° año ICM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88952" cy="381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2471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Operadores de comparación y lógicos: la base del filtrado vectorizado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12700"/>
          </a:xfrm>
          <a:prstGeom prst="rect">
            <a:avLst/>
          </a:prstGeom>
          <a:solidFill>
            <a:srgbClr val="CC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379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DD"/>
                </a:solidFill>
                <a:latin typeface="Calibri"/>
              </a:rPr>
              <a:t>Análisis de Datos con Python · 4° año ICM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960120"/>
            <a:ext cx="5486400" cy="2834640"/>
          </a:xfrm>
          <a:prstGeom prst="rect">
            <a:avLst/>
          </a:prstGeom>
          <a:solidFill>
            <a:srgbClr val="F0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960120"/>
            <a:ext cx="50800" cy="283464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033272"/>
            <a:ext cx="5303520" cy="2724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1A1A2E"/>
                </a:solidFill>
                <a:latin typeface="Courier New"/>
              </a:rPr>
              <a:t>x = np.arange(1, 10)</a:t>
            </a:r>
          </a:p>
          <a:p>
            <a:r>
              <a:rPr sz="1100">
                <a:solidFill>
                  <a:srgbClr val="1A1A2E"/>
                </a:solidFill>
                <a:latin typeface="Courier New"/>
              </a:rPr>
              <a:t/>
            </a:r>
          </a:p>
          <a:p>
            <a:r>
              <a:rPr sz="1100">
                <a:solidFill>
                  <a:srgbClr val="1A1A2E"/>
                </a:solidFill>
                <a:latin typeface="Courier New"/>
              </a:rPr>
              <a:t>x &gt; 3     # [F, F, F, T, T, T, T, T, T]</a:t>
            </a:r>
          </a:p>
          <a:p>
            <a:r>
              <a:rPr sz="1100">
                <a:solidFill>
                  <a:srgbClr val="1A1A2E"/>
                </a:solidFill>
                <a:latin typeface="Courier New"/>
              </a:rPr>
              <a:t>x &lt; 3     # [T, T, F, F, F, F, F, F, F]</a:t>
            </a:r>
          </a:p>
          <a:p>
            <a:r>
              <a:rPr sz="1100">
                <a:solidFill>
                  <a:srgbClr val="1A1A2E"/>
                </a:solidFill>
                <a:latin typeface="Courier New"/>
              </a:rPr>
              <a:t>x == 3    # [F, F, T, F, F, F, F, F, F]</a:t>
            </a:r>
          </a:p>
          <a:p>
            <a:r>
              <a:rPr sz="1100">
                <a:solidFill>
                  <a:srgbClr val="1A1A2E"/>
                </a:solidFill>
                <a:latin typeface="Courier New"/>
              </a:rPr>
              <a:t>x != 3    # [T, T, F, T, T, T, T, T, T]</a:t>
            </a:r>
          </a:p>
          <a:p>
            <a:r>
              <a:rPr sz="1100">
                <a:solidFill>
                  <a:srgbClr val="1A1A2E"/>
                </a:solidFill>
                <a:latin typeface="Courier New"/>
              </a:rPr>
              <a:t/>
            </a:r>
          </a:p>
          <a:p>
            <a:r>
              <a:rPr sz="1100">
                <a:solidFill>
                  <a:srgbClr val="1A1A2E"/>
                </a:solidFill>
                <a:latin typeface="Courier New"/>
              </a:rPr>
              <a:t># Consultas sobre el arreglo booleano</a:t>
            </a:r>
          </a:p>
          <a:p>
            <a:r>
              <a:rPr sz="1100">
                <a:solidFill>
                  <a:srgbClr val="1A1A2E"/>
                </a:solidFill>
                <a:latin typeface="Courier New"/>
              </a:rPr>
              <a:t>np.sum(M &gt; 5)          # cuántos &gt; 5</a:t>
            </a:r>
          </a:p>
          <a:p>
            <a:r>
              <a:rPr sz="1100">
                <a:solidFill>
                  <a:srgbClr val="1A1A2E"/>
                </a:solidFill>
                <a:latin typeface="Courier New"/>
              </a:rPr>
              <a:t>np.sum(M &gt; 5, axis=1)  # cuántos &gt; 5 por fila</a:t>
            </a:r>
          </a:p>
          <a:p>
            <a:r>
              <a:rPr sz="1100">
                <a:solidFill>
                  <a:srgbClr val="1A1A2E"/>
                </a:solidFill>
                <a:latin typeface="Courier New"/>
              </a:rPr>
              <a:t>np.any(M &gt; 8)          # ¿hay alguno &gt; 8?</a:t>
            </a:r>
          </a:p>
          <a:p>
            <a:r>
              <a:rPr sz="1100">
                <a:solidFill>
                  <a:srgbClr val="1A1A2E"/>
                </a:solidFill>
                <a:latin typeface="Courier New"/>
              </a:rPr>
              <a:t>np.all(M &lt; 10)         # ¿todos &lt; 10?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0" y="960120"/>
            <a:ext cx="5760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3460"/>
                </a:solidFill>
                <a:latin typeface="Calibri"/>
              </a:rPr>
              <a:t>Operadores lógicos elemento a elemento: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35040" y="1298448"/>
            <a:ext cx="5760720" cy="2743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0" y="1344168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Símbolo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0" y="1344168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ufunc equivalente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0" y="1344168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Operación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35040" y="1572768"/>
            <a:ext cx="5760720" cy="292608"/>
          </a:xfrm>
          <a:prstGeom prst="rect">
            <a:avLst/>
          </a:prstGeom>
          <a:solidFill>
            <a:srgbClr val="F4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6480" y="1618488"/>
            <a:ext cx="640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94560"/>
                </a:solidFill>
                <a:latin typeface="Courier New"/>
              </a:rPr>
              <a:t>&amp;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0" y="1618488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55"/>
                </a:solidFill>
                <a:latin typeface="Courier New"/>
              </a:rPr>
              <a:t>np.bitwise_and()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0" y="1618488"/>
            <a:ext cx="2468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55"/>
                </a:solidFill>
                <a:latin typeface="Calibri"/>
              </a:rPr>
              <a:t>AND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35040" y="1865376"/>
            <a:ext cx="576072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26480" y="1911096"/>
            <a:ext cx="640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94560"/>
                </a:solidFill>
                <a:latin typeface="Courier New"/>
              </a:rPr>
              <a:t>|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0" y="1911096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55"/>
                </a:solidFill>
                <a:latin typeface="Courier New"/>
              </a:rPr>
              <a:t>np.bitwise_or()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0" y="1911096"/>
            <a:ext cx="2468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55"/>
                </a:solidFill>
                <a:latin typeface="Calibri"/>
              </a:rPr>
              <a:t>OR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35040" y="2157984"/>
            <a:ext cx="5760720" cy="292608"/>
          </a:xfrm>
          <a:prstGeom prst="rect">
            <a:avLst/>
          </a:prstGeom>
          <a:solidFill>
            <a:srgbClr val="F4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26480" y="2203704"/>
            <a:ext cx="640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94560"/>
                </a:solidFill>
                <a:latin typeface="Courier New"/>
              </a:rPr>
              <a:t>^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9440" y="2203704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55"/>
                </a:solidFill>
                <a:latin typeface="Courier New"/>
              </a:rPr>
              <a:t>np.bitwise_xor()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2203704"/>
            <a:ext cx="2468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55"/>
                </a:solidFill>
                <a:latin typeface="Calibri"/>
              </a:rPr>
              <a:t>XOR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35040" y="2450592"/>
            <a:ext cx="576072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26480" y="2496312"/>
            <a:ext cx="640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94560"/>
                </a:solidFill>
                <a:latin typeface="Courier New"/>
              </a:rPr>
              <a:t>~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49440" y="2496312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55"/>
                </a:solidFill>
                <a:latin typeface="Courier New"/>
              </a:rPr>
              <a:t>np.bitwise_not()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2496312"/>
            <a:ext cx="2468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55"/>
                </a:solidFill>
                <a:latin typeface="Calibri"/>
              </a:rPr>
              <a:t>NOT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035040" y="2606040"/>
            <a:ext cx="5760720" cy="1828800"/>
          </a:xfrm>
          <a:prstGeom prst="rect">
            <a:avLst/>
          </a:prstGeom>
          <a:solidFill>
            <a:srgbClr val="F0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35040" y="2606040"/>
            <a:ext cx="50800" cy="18288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72200" y="2679192"/>
            <a:ext cx="5577840" cy="17190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1A1A2E"/>
                </a:solidFill>
                <a:latin typeface="Courier New"/>
              </a:rPr>
              <a:t># Histórico chancador primario: µ=4850 tph, σ=750</a:t>
            </a:r>
          </a:p>
          <a:p>
            <a:r>
              <a:rPr sz="1050">
                <a:solidFill>
                  <a:srgbClr val="1A1A2E"/>
                </a:solidFill>
                <a:latin typeface="Courier New"/>
              </a:rPr>
              <a:t>hist = rng.normal(1250, 750, 100) + 3600</a:t>
            </a:r>
          </a:p>
          <a:p>
            <a:r>
              <a:rPr sz="1050">
                <a:solidFill>
                  <a:srgbClr val="1A1A2E"/>
                </a:solidFill>
                <a:latin typeface="Courier New"/>
              </a:rPr>
              <a:t/>
            </a:r>
          </a:p>
          <a:p>
            <a:r>
              <a:rPr sz="1050">
                <a:solidFill>
                  <a:srgbClr val="1A1A2E"/>
                </a:solidFill>
                <a:latin typeface="Courier New"/>
              </a:rPr>
              <a:t>np.sum(hist &lt; 4000)                      # días &lt; 4000 tph</a:t>
            </a:r>
          </a:p>
          <a:p>
            <a:r>
              <a:rPr sz="1050">
                <a:solidFill>
                  <a:srgbClr val="1A1A2E"/>
                </a:solidFill>
                <a:latin typeface="Courier New"/>
              </a:rPr>
              <a:t>np.sum((hist &gt;= 4500) &amp; (hist &lt;= 5000))  # entre 4500 y 5000</a:t>
            </a:r>
          </a:p>
          <a:p>
            <a:r>
              <a:rPr sz="1050">
                <a:solidFill>
                  <a:srgbClr val="1A1A2E"/>
                </a:solidFill>
                <a:latin typeface="Courier New"/>
              </a:rPr>
              <a:t>np.sum((hist &gt; 6000) | (hist &lt; 4000))    # rendimiento extremo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3931920"/>
            <a:ext cx="5394960" cy="685800"/>
          </a:xfrm>
          <a:prstGeom prst="rect">
            <a:avLst/>
          </a:prstGeom>
          <a:solidFill>
            <a:srgbClr val="FEF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65760" y="3931920"/>
            <a:ext cx="63500" cy="6858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2920" y="397764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67E22"/>
                </a:solidFill>
                <a:latin typeface="Calibri"/>
              </a:rPr>
              <a:t>¡Atención!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4224528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444455"/>
                </a:solidFill>
                <a:latin typeface="Calibri"/>
              </a:rPr>
              <a:t>Los paréntesis son OBLIGATORIOS al combinar condiciones. La precedencia de &amp; y | difiere de and/or.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88952" cy="381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2471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Masking y Fancy Indexing: filtrado y selección vectorizados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12700"/>
          </a:xfrm>
          <a:prstGeom prst="rect">
            <a:avLst/>
          </a:prstGeom>
          <a:solidFill>
            <a:srgbClr val="CC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379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DD"/>
                </a:solidFill>
                <a:latin typeface="Calibri"/>
              </a:rPr>
              <a:t>Análisis de Datos con Python · 4° año ICM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960120"/>
            <a:ext cx="5394960" cy="777240"/>
          </a:xfrm>
          <a:prstGeom prst="rect">
            <a:avLst/>
          </a:prstGeom>
          <a:solidFill>
            <a:srgbClr val="FF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960120"/>
            <a:ext cx="63500" cy="77724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00584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94560"/>
                </a:solidFill>
                <a:latin typeface="Calibri"/>
              </a:rPr>
              <a:t>Masking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252728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444455"/>
                </a:solidFill>
                <a:latin typeface="Calibri"/>
              </a:rPr>
              <a:t>Usar un arreglo booleano como índice para seleccionar elementos que cumplen una condición. Es la herramienta central del preprocesamiento vectorizado.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874519"/>
            <a:ext cx="5486400" cy="3200400"/>
          </a:xfrm>
          <a:prstGeom prst="rect">
            <a:avLst/>
          </a:prstGeom>
          <a:solidFill>
            <a:srgbClr val="F0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1874519"/>
            <a:ext cx="50800" cy="32004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1947671"/>
            <a:ext cx="5303520" cy="30906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1A1A2E"/>
                </a:solidFill>
                <a:latin typeface="Courier New"/>
              </a:rPr>
              <a:t># Masking básico</a:t>
            </a:r>
          </a:p>
          <a:p>
            <a:r>
              <a:rPr sz="1050">
                <a:solidFill>
                  <a:srgbClr val="1A1A2E"/>
                </a:solidFill>
                <a:latin typeface="Courier New"/>
              </a:rPr>
              <a:t>M[M &lt; 4]              # todos los menores que 4</a:t>
            </a:r>
          </a:p>
          <a:p>
            <a:r>
              <a:rPr sz="1050">
                <a:solidFill>
                  <a:srgbClr val="1A1A2E"/>
                </a:solidFill>
                <a:latin typeface="Courier New"/>
              </a:rPr>
              <a:t>M[(M &gt; 3) &amp; (M &lt; 8)]  # compuesta</a:t>
            </a:r>
          </a:p>
          <a:p>
            <a:r>
              <a:rPr sz="1050">
                <a:solidFill>
                  <a:srgbClr val="1A1A2E"/>
                </a:solidFill>
                <a:latin typeface="Courier New"/>
              </a:rPr>
              <a:t># resultado: siempre arreglo 1D</a:t>
            </a:r>
          </a:p>
          <a:p>
            <a:r>
              <a:rPr sz="1050">
                <a:solidFill>
                  <a:srgbClr val="1A1A2E"/>
                </a:solidFill>
                <a:latin typeface="Courier New"/>
              </a:rPr>
              <a:t/>
            </a:r>
          </a:p>
          <a:p>
            <a:r>
              <a:rPr sz="1050">
                <a:solidFill>
                  <a:srgbClr val="1A1A2E"/>
                </a:solidFill>
                <a:latin typeface="Courier New"/>
              </a:rPr>
              <a:t># Campaña metalúrgica: filtrar muestras</a:t>
            </a:r>
          </a:p>
          <a:p>
            <a:r>
              <a:rPr sz="1050">
                <a:solidFill>
                  <a:srgbClr val="1A1A2E"/>
                </a:solidFill>
                <a:latin typeface="Courier New"/>
              </a:rPr>
              <a:t># P cols: [tph, psi, %malla, %Cu]</a:t>
            </a:r>
          </a:p>
          <a:p>
            <a:r>
              <a:rPr sz="1050">
                <a:solidFill>
                  <a:srgbClr val="1A1A2E"/>
                </a:solidFill>
                <a:latin typeface="Courier New"/>
              </a:rPr>
              <a:t>mask = (</a:t>
            </a:r>
          </a:p>
          <a:p>
            <a:r>
              <a:rPr sz="1050">
                <a:solidFill>
                  <a:srgbClr val="1A1A2E"/>
                </a:solidFill>
                <a:latin typeface="Courier New"/>
              </a:rPr>
              <a:t>    (P[:, 0] &gt;= 5000) &amp;   # tph ≥ 5000</a:t>
            </a:r>
          </a:p>
          <a:p>
            <a:r>
              <a:rPr sz="1050">
                <a:solidFill>
                  <a:srgbClr val="1A1A2E"/>
                </a:solidFill>
                <a:latin typeface="Courier New"/>
              </a:rPr>
              <a:t>    (P[:, 1] &gt;  11.0) &amp;   # psi &gt; 11</a:t>
            </a:r>
          </a:p>
          <a:p>
            <a:r>
              <a:rPr sz="1050">
                <a:solidFill>
                  <a:srgbClr val="1A1A2E"/>
                </a:solidFill>
                <a:latin typeface="Courier New"/>
              </a:rPr>
              <a:t>    (P[:, 3] &gt;= 0.62)     # Cu% ≥ 0.62</a:t>
            </a:r>
          </a:p>
          <a:p>
            <a:r>
              <a:rPr sz="1050">
                <a:solidFill>
                  <a:srgbClr val="1A1A2E"/>
                </a:solidFill>
                <a:latin typeface="Courier New"/>
              </a:rPr>
              <a:t>)</a:t>
            </a:r>
          </a:p>
          <a:p>
            <a:r>
              <a:rPr sz="1050">
                <a:solidFill>
                  <a:srgbClr val="1A1A2E"/>
                </a:solidFill>
                <a:latin typeface="Courier New"/>
              </a:rPr>
              <a:t>P[mask]             # filas que cumplen todo</a:t>
            </a:r>
          </a:p>
          <a:p>
            <a:r>
              <a:rPr sz="1050">
                <a:solidFill>
                  <a:srgbClr val="1A1A2E"/>
                </a:solidFill>
                <a:latin typeface="Courier New"/>
              </a:rPr>
              <a:t>P[mask][:, [0, 3]]  # + selección de columnas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35040" y="960120"/>
            <a:ext cx="5760720" cy="777240"/>
          </a:xfrm>
          <a:prstGeom prst="rect">
            <a:avLst/>
          </a:prstGeom>
          <a:solidFill>
            <a:srgbClr val="FF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35040" y="960120"/>
            <a:ext cx="63500" cy="77724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72200" y="1005840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94560"/>
                </a:solidFill>
                <a:latin typeface="Calibri"/>
              </a:rPr>
              <a:t>Fancy Indexing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2200" y="1252728"/>
            <a:ext cx="5577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444455"/>
                </a:solidFill>
                <a:latin typeface="Calibri"/>
              </a:rPr>
              <a:t>Pasar un arreglo de índices para seleccionar múltiples posiciones a la vez. La geometría del resultado = geometría de los índices.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35040" y="1874519"/>
            <a:ext cx="5760720" cy="3017520"/>
          </a:xfrm>
          <a:prstGeom prst="rect">
            <a:avLst/>
          </a:prstGeom>
          <a:solidFill>
            <a:srgbClr val="F0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035040" y="1874519"/>
            <a:ext cx="50800" cy="301752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72200" y="1947671"/>
            <a:ext cx="5577840" cy="2907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1A1A2E"/>
                </a:solidFill>
                <a:latin typeface="Courier New"/>
              </a:rPr>
              <a:t>x = rng.integers(1, 100, size=20)</a:t>
            </a:r>
          </a:p>
          <a:p>
            <a:r>
              <a:rPr sz="1050">
                <a:solidFill>
                  <a:srgbClr val="1A1A2E"/>
                </a:solidFill>
                <a:latin typeface="Courier New"/>
              </a:rPr>
              <a:t/>
            </a:r>
          </a:p>
          <a:p>
            <a:r>
              <a:rPr sz="1050">
                <a:solidFill>
                  <a:srgbClr val="1A1A2E"/>
                </a:solidFill>
                <a:latin typeface="Courier New"/>
              </a:rPr>
              <a:t># Selección por lista de índices</a:t>
            </a:r>
          </a:p>
          <a:p>
            <a:r>
              <a:rPr sz="1050">
                <a:solidFill>
                  <a:srgbClr val="1A1A2E"/>
                </a:solidFill>
                <a:latin typeface="Courier New"/>
              </a:rPr>
              <a:t>x[[13, 7, 18]]       # → arreglo (3,)</a:t>
            </a:r>
          </a:p>
          <a:p>
            <a:r>
              <a:rPr sz="1050">
                <a:solidFill>
                  <a:srgbClr val="1A1A2E"/>
                </a:solidFill>
                <a:latin typeface="Courier New"/>
              </a:rPr>
              <a:t/>
            </a:r>
          </a:p>
          <a:p>
            <a:r>
              <a:rPr sz="1050">
                <a:solidFill>
                  <a:srgbClr val="1A1A2E"/>
                </a:solidFill>
                <a:latin typeface="Courier New"/>
              </a:rPr>
              <a:t># Índices en forma de matriz → mismo shape</a:t>
            </a:r>
          </a:p>
          <a:p>
            <a:r>
              <a:rPr sz="1050">
                <a:solidFill>
                  <a:srgbClr val="1A1A2E"/>
                </a:solidFill>
                <a:latin typeface="Courier New"/>
              </a:rPr>
              <a:t>idx = np.array([[13, 7], [18, 2]])</a:t>
            </a:r>
          </a:p>
          <a:p>
            <a:r>
              <a:rPr sz="1050">
                <a:solidFill>
                  <a:srgbClr val="1A1A2E"/>
                </a:solidFill>
                <a:latin typeface="Courier New"/>
              </a:rPr>
              <a:t>x[idx]               # → arreglo (2, 2)</a:t>
            </a:r>
          </a:p>
          <a:p>
            <a:r>
              <a:rPr sz="1050">
                <a:solidFill>
                  <a:srgbClr val="1A1A2E"/>
                </a:solidFill>
                <a:latin typeface="Courier New"/>
              </a:rPr>
              <a:t/>
            </a:r>
          </a:p>
          <a:p>
            <a:r>
              <a:rPr sz="1050">
                <a:solidFill>
                  <a:srgbClr val="1A1A2E"/>
                </a:solidFill>
                <a:latin typeface="Courier New"/>
              </a:rPr>
              <a:t># En 2D: selección pareada vs rectangular</a:t>
            </a:r>
          </a:p>
          <a:p>
            <a:r>
              <a:rPr sz="1050">
                <a:solidFill>
                  <a:srgbClr val="1A1A2E"/>
                </a:solidFill>
                <a:latin typeface="Courier New"/>
              </a:rPr>
              <a:t>row = np.array([0, 2, 4])</a:t>
            </a:r>
          </a:p>
          <a:p>
            <a:r>
              <a:rPr sz="1050">
                <a:solidFill>
                  <a:srgbClr val="1A1A2E"/>
                </a:solidFill>
                <a:latin typeface="Courier New"/>
              </a:rPr>
              <a:t>col = np.array([1, 3, 5])</a:t>
            </a:r>
          </a:p>
          <a:p>
            <a:r>
              <a:rPr sz="1050">
                <a:solidFill>
                  <a:srgbClr val="1A1A2E"/>
                </a:solidFill>
                <a:latin typeface="Courier New"/>
              </a:rPr>
              <a:t>M[row, col]           # (3,) — pareado</a:t>
            </a:r>
          </a:p>
          <a:p>
            <a:r>
              <a:rPr sz="1050">
                <a:solidFill>
                  <a:srgbClr val="1A1A2E"/>
                </a:solidFill>
                <a:latin typeface="Courier New"/>
              </a:rPr>
              <a:t>M[np.ix_(row, col)]   # (3,3) — rectangular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88952" cy="381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2471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Ordenamiento, particionamiento y reemplazo condicional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12700"/>
          </a:xfrm>
          <a:prstGeom prst="rect">
            <a:avLst/>
          </a:prstGeom>
          <a:solidFill>
            <a:srgbClr val="CC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379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DD"/>
                </a:solidFill>
                <a:latin typeface="Calibri"/>
              </a:rPr>
              <a:t>Análisis de Datos con Python · 4° año ICM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960120"/>
            <a:ext cx="5486400" cy="2468880"/>
          </a:xfrm>
          <a:prstGeom prst="rect">
            <a:avLst/>
          </a:prstGeom>
          <a:solidFill>
            <a:srgbClr val="F0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960120"/>
            <a:ext cx="50800" cy="246888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033272"/>
            <a:ext cx="5303520" cy="23591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1A1A2E"/>
                </a:solidFill>
                <a:latin typeface="Courier New"/>
              </a:rPr>
              <a:t>u = rng.integers(1, 20, size=10)</a:t>
            </a:r>
          </a:p>
          <a:p>
            <a:r>
              <a:rPr sz="1100">
                <a:solidFill>
                  <a:srgbClr val="1A1A2E"/>
                </a:solidFill>
                <a:latin typeface="Courier New"/>
              </a:rPr>
              <a:t/>
            </a:r>
          </a:p>
          <a:p>
            <a:r>
              <a:rPr sz="1100">
                <a:solidFill>
                  <a:srgbClr val="1A1A2E"/>
                </a:solidFill>
                <a:latin typeface="Courier New"/>
              </a:rPr>
              <a:t>np.sort(u)          # copia ordenada (no modifica u)</a:t>
            </a:r>
          </a:p>
          <a:p>
            <a:r>
              <a:rPr sz="1100">
                <a:solidFill>
                  <a:srgbClr val="1A1A2E"/>
                </a:solidFill>
                <a:latin typeface="Courier New"/>
              </a:rPr>
              <a:t>u.sort()            # modifica u en sitio</a:t>
            </a:r>
          </a:p>
          <a:p>
            <a:r>
              <a:rPr sz="1100">
                <a:solidFill>
                  <a:srgbClr val="1A1A2E"/>
                </a:solidFill>
                <a:latin typeface="Courier New"/>
              </a:rPr>
              <a:t/>
            </a:r>
          </a:p>
          <a:p>
            <a:r>
              <a:rPr sz="1100">
                <a:solidFill>
                  <a:srgbClr val="1A1A2E"/>
                </a:solidFill>
                <a:latin typeface="Courier New"/>
              </a:rPr>
              <a:t># Índices que ordenarían el arreglo</a:t>
            </a:r>
          </a:p>
          <a:p>
            <a:r>
              <a:rPr sz="1100">
                <a:solidFill>
                  <a:srgbClr val="1A1A2E"/>
                </a:solidFill>
                <a:latin typeface="Courier New"/>
              </a:rPr>
              <a:t>idx = np.argsort(u)</a:t>
            </a:r>
          </a:p>
          <a:p>
            <a:r>
              <a:rPr sz="1100">
                <a:solidFill>
                  <a:srgbClr val="1A1A2E"/>
                </a:solidFill>
                <a:latin typeface="Courier New"/>
              </a:rPr>
              <a:t>u[idx]              # equivale a np.sort(u)</a:t>
            </a:r>
          </a:p>
          <a:p>
            <a:r>
              <a:rPr sz="1100">
                <a:solidFill>
                  <a:srgbClr val="1A1A2E"/>
                </a:solidFill>
                <a:latin typeface="Courier New"/>
              </a:rPr>
              <a:t/>
            </a:r>
          </a:p>
          <a:p>
            <a:r>
              <a:rPr sz="1100">
                <a:solidFill>
                  <a:srgbClr val="1A1A2E"/>
                </a:solidFill>
                <a:latin typeface="Courier New"/>
              </a:rPr>
              <a:t># Ordenamiento por eje en 2D</a:t>
            </a:r>
          </a:p>
          <a:p>
            <a:r>
              <a:rPr sz="1100">
                <a:solidFill>
                  <a:srgbClr val="1A1A2E"/>
                </a:solidFill>
                <a:latin typeface="Courier New"/>
              </a:rPr>
              <a:t>np.sort(M, axis=0)  # ordena cada columna</a:t>
            </a:r>
          </a:p>
          <a:p>
            <a:r>
              <a:rPr sz="1100">
                <a:solidFill>
                  <a:srgbClr val="1A1A2E"/>
                </a:solidFill>
                <a:latin typeface="Courier New"/>
              </a:rPr>
              <a:t>np.sort(M, axis=1)  # ordena cada fila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35040" y="960120"/>
            <a:ext cx="5760720" cy="2697480"/>
          </a:xfrm>
          <a:prstGeom prst="rect">
            <a:avLst/>
          </a:prstGeom>
          <a:solidFill>
            <a:srgbClr val="F0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035040" y="960120"/>
            <a:ext cx="50800" cy="269748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72200" y="1033272"/>
            <a:ext cx="5577840" cy="2587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1A1A2E"/>
                </a:solidFill>
                <a:latin typeface="Courier New"/>
              </a:rPr>
              <a:t># Particionamiento: K menores al inicio</a:t>
            </a:r>
          </a:p>
          <a:p>
            <a:r>
              <a:rPr sz="1050">
                <a:solidFill>
                  <a:srgbClr val="1A1A2E"/>
                </a:solidFill>
                <a:latin typeface="Courier New"/>
              </a:rPr>
              <a:t>np.partition(u, 3)     # los 3 primeros ← mínimos</a:t>
            </a:r>
          </a:p>
          <a:p>
            <a:r>
              <a:rPr sz="1050">
                <a:solidFill>
                  <a:srgbClr val="1A1A2E"/>
                </a:solidFill>
                <a:latin typeface="Courier New"/>
              </a:rPr>
              <a:t>np.partition(M, 2, axis=0)</a:t>
            </a:r>
          </a:p>
          <a:p>
            <a:r>
              <a:rPr sz="1050">
                <a:solidFill>
                  <a:srgbClr val="1A1A2E"/>
                </a:solidFill>
                <a:latin typeface="Courier New"/>
              </a:rPr>
              <a:t/>
            </a:r>
          </a:p>
          <a:p>
            <a:r>
              <a:rPr sz="1050">
                <a:solidFill>
                  <a:srgbClr val="1A1A2E"/>
                </a:solidFill>
                <a:latin typeface="Courier New"/>
              </a:rPr>
              <a:t># K vecinos más cercanos</a:t>
            </a:r>
          </a:p>
          <a:p>
            <a:r>
              <a:rPr sz="1050">
                <a:solidFill>
                  <a:srgbClr val="1A1A2E"/>
                </a:solidFill>
                <a:latin typeface="Courier New"/>
              </a:rPr>
              <a:t>dist = np.zeros((30, 30))  # distancias euclidianas</a:t>
            </a:r>
          </a:p>
          <a:p>
            <a:r>
              <a:rPr sz="1050">
                <a:solidFill>
                  <a:srgbClr val="1A1A2E"/>
                </a:solidFill>
                <a:latin typeface="Courier New"/>
              </a:rPr>
              <a:t>for i in range(30):</a:t>
            </a:r>
          </a:p>
          <a:p>
            <a:r>
              <a:rPr sz="1050">
                <a:solidFill>
                  <a:srgbClr val="1A1A2E"/>
                </a:solidFill>
                <a:latin typeface="Courier New"/>
              </a:rPr>
              <a:t>    for j in range(30):</a:t>
            </a:r>
          </a:p>
          <a:p>
            <a:r>
              <a:rPr sz="1050">
                <a:solidFill>
                  <a:srgbClr val="1A1A2E"/>
                </a:solidFill>
                <a:latin typeface="Courier New"/>
              </a:rPr>
              <a:t>        dist[i,j] = np.sum((P[i]-P[j])**2)</a:t>
            </a:r>
          </a:p>
          <a:p>
            <a:r>
              <a:rPr sz="1050">
                <a:solidFill>
                  <a:srgbClr val="1A1A2E"/>
                </a:solidFill>
                <a:latin typeface="Courier New"/>
              </a:rPr>
              <a:t/>
            </a:r>
          </a:p>
          <a:p>
            <a:r>
              <a:rPr sz="1050">
                <a:solidFill>
                  <a:srgbClr val="1A1A2E"/>
                </a:solidFill>
                <a:latin typeface="Courier New"/>
              </a:rPr>
              <a:t>K = 3</a:t>
            </a:r>
          </a:p>
          <a:p>
            <a:r>
              <a:rPr sz="1050">
                <a:solidFill>
                  <a:srgbClr val="1A1A2E"/>
                </a:solidFill>
                <a:latin typeface="Courier New"/>
              </a:rPr>
              <a:t>nearest = np.argpartition(dist, K+1, axis=1)</a:t>
            </a:r>
          </a:p>
          <a:p>
            <a:r>
              <a:rPr sz="1050">
                <a:solidFill>
                  <a:srgbClr val="1A1A2E"/>
                </a:solidFill>
                <a:latin typeface="Courier New"/>
              </a:rPr>
              <a:t>nearest[:, 1:K+1]  # excluye el punto mismo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566160"/>
            <a:ext cx="11430000" cy="1691640"/>
          </a:xfrm>
          <a:prstGeom prst="rect">
            <a:avLst/>
          </a:prstGeom>
          <a:solidFill>
            <a:srgbClr val="F0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3566160"/>
            <a:ext cx="50800" cy="169164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3639312"/>
            <a:ext cx="11247120" cy="1581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1A1A2E"/>
                </a:solidFill>
                <a:latin typeface="Courier New"/>
              </a:rPr>
              <a:t># Reemplazo condicional: np.where(cond, si_true, si_false)</a:t>
            </a:r>
          </a:p>
          <a:p>
            <a:r>
              <a:rPr sz="1100">
                <a:solidFill>
                  <a:srgbClr val="1A1A2E"/>
                </a:solidFill>
                <a:latin typeface="Courier New"/>
              </a:rPr>
              <a:t>T = rng.normal(1800, 650, 1000)   # tph molino</a:t>
            </a:r>
          </a:p>
          <a:p>
            <a:r>
              <a:rPr sz="1100">
                <a:solidFill>
                  <a:srgbClr val="1A1A2E"/>
                </a:solidFill>
                <a:latin typeface="Courier New"/>
              </a:rPr>
              <a:t/>
            </a:r>
          </a:p>
          <a:p>
            <a:r>
              <a:rPr sz="1100">
                <a:solidFill>
                  <a:srgbClr val="1A1A2E"/>
                </a:solidFill>
                <a:latin typeface="Courier New"/>
              </a:rPr>
              <a:t># Política: tratar &lt; 1200 tph como dato ausente</a:t>
            </a:r>
          </a:p>
          <a:p>
            <a:r>
              <a:rPr sz="1100">
                <a:solidFill>
                  <a:srgbClr val="1A1A2E"/>
                </a:solidFill>
                <a:latin typeface="Courier New"/>
              </a:rPr>
              <a:t>T_corr = np.where(T &lt; 1200, np.nan, T)</a:t>
            </a:r>
          </a:p>
          <a:p>
            <a:r>
              <a:rPr sz="1100">
                <a:solidFill>
                  <a:srgbClr val="1A1A2E"/>
                </a:solidFill>
                <a:latin typeface="Courier New"/>
              </a:rPr>
              <a:t/>
            </a:r>
          </a:p>
          <a:p>
            <a:r>
              <a:rPr sz="1100">
                <a:solidFill>
                  <a:srgbClr val="1A1A2E"/>
                </a:solidFill>
                <a:latin typeface="Courier New"/>
              </a:rPr>
              <a:t># Recorte en rango</a:t>
            </a:r>
          </a:p>
          <a:p>
            <a:r>
              <a:rPr sz="1100">
                <a:solidFill>
                  <a:srgbClr val="1A1A2E"/>
                </a:solidFill>
                <a:latin typeface="Courier New"/>
              </a:rPr>
              <a:t>T_clip = np.clip(T, 1200, 5000)   # recorta entre límites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2743200"/>
            <a:ext cx="64008" cy="128016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274320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Módulo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361188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CCCCDD"/>
                </a:solidFill>
                <a:latin typeface="Calibri"/>
              </a:rPr>
              <a:t>NumPy como base del modelamiento predictivo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DD"/>
                </a:solidFill>
                <a:latin typeface="Calibri"/>
              </a:rPr>
              <a:t>Análisis de Datos con Python · 4° año ICM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88952" cy="381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2471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Regresión lineal: el modelo y su función de costo (MSE)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12700"/>
          </a:xfrm>
          <a:prstGeom prst="rect">
            <a:avLst/>
          </a:prstGeom>
          <a:solidFill>
            <a:srgbClr val="CC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379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DD"/>
                </a:solidFill>
                <a:latin typeface="Calibri"/>
              </a:rPr>
              <a:t>Análisis de Datos con Python · 4° año ICM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960120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3460"/>
                </a:solidFill>
                <a:latin typeface="Calibri"/>
              </a:rPr>
              <a:t>El modelo: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298448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6213E"/>
                </a:solidFill>
                <a:latin typeface="Courier New"/>
              </a:rPr>
              <a:t>ŷᵢ = w₀ + Σ wⱼ xᵢⱼ  =  Xw + 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719072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55"/>
                </a:solidFill>
                <a:latin typeface="Courier New"/>
              </a:rPr>
              <a:t>X ∈ ℝᵐˣⁿ  (m obs., n vars.)    w ∈ ℝⁿ  (parámetros)    b = w₀  (sesgo)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148840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3460"/>
                </a:solidFill>
                <a:latin typeface="Calibri"/>
              </a:rPr>
              <a:t>Función de costo — Error Cuadrático Medio (MSE):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487168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6213E"/>
                </a:solidFill>
                <a:latin typeface="Courier New"/>
              </a:rPr>
              <a:t>MSE = (1/m) Σᵢ (yᵢ − ŷᵢ)²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926080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3460"/>
                </a:solidFill>
                <a:latin typeface="Calibri"/>
              </a:rPr>
              <a:t>Gradiente descendente (GD):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264408"/>
            <a:ext cx="5394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55"/>
                </a:solidFill>
                <a:latin typeface="Courier New"/>
              </a:rPr>
              <a:t>∂MSE/∂w = -(2/m) Xᵀ(y − ŷ)
∂MSE/∂b = -(2/m) Σ(yᵢ − ŷᵢ)
wₖ₊₁ = wₖ − α · ∂MSE/∂w
bₖ₊₁ = bₖ − α · ∂MSE/∂b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35040" y="960120"/>
            <a:ext cx="5760720" cy="5074920"/>
          </a:xfrm>
          <a:prstGeom prst="rect">
            <a:avLst/>
          </a:prstGeom>
          <a:solidFill>
            <a:srgbClr val="F0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35040" y="960120"/>
            <a:ext cx="50800" cy="507492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72200" y="1033272"/>
            <a:ext cx="5577840" cy="4965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1A1A2E"/>
                </a:solidFill>
                <a:latin typeface="Courier New"/>
              </a:rPr>
              <a:t>def fit_linear_regression(</a:t>
            </a:r>
          </a:p>
          <a:p>
            <a:r>
              <a:rPr sz="1050">
                <a:solidFill>
                  <a:srgbClr val="1A1A2E"/>
                </a:solidFill>
                <a:latin typeface="Courier New"/>
              </a:rPr>
              <a:t>    X, y, iterations=100,</a:t>
            </a:r>
          </a:p>
          <a:p>
            <a:r>
              <a:rPr sz="1050">
                <a:solidFill>
                  <a:srgbClr val="1A1A2E"/>
                </a:solidFill>
                <a:latin typeface="Courier New"/>
              </a:rPr>
              <a:t>    tolerance=1e-5, learning_rate=0.5</a:t>
            </a:r>
          </a:p>
          <a:p>
            <a:r>
              <a:rPr sz="1050">
                <a:solidFill>
                  <a:srgbClr val="1A1A2E"/>
                </a:solidFill>
                <a:latin typeface="Courier New"/>
              </a:rPr>
              <a:t>):</a:t>
            </a:r>
          </a:p>
          <a:p>
            <a:r>
              <a:rPr sz="1050">
                <a:solidFill>
                  <a:srgbClr val="1A1A2E"/>
                </a:solidFill>
                <a:latin typeface="Courier New"/>
              </a:rPr>
              <a:t>    y = y.reshape(-1, 1)</a:t>
            </a:r>
          </a:p>
          <a:p>
            <a:r>
              <a:rPr sz="1050">
                <a:solidFill>
                  <a:srgbClr val="1A1A2E"/>
                </a:solidFill>
                <a:latin typeface="Courier New"/>
              </a:rPr>
              <a:t>    # sesgo como primera columna de 1s</a:t>
            </a:r>
          </a:p>
          <a:p>
            <a:r>
              <a:rPr sz="1050">
                <a:solidFill>
                  <a:srgbClr val="1A1A2E"/>
                </a:solidFill>
                <a:latin typeface="Courier New"/>
              </a:rPr>
              <a:t>    X = np.concatenate(</a:t>
            </a:r>
          </a:p>
          <a:p>
            <a:r>
              <a:rPr sz="1050">
                <a:solidFill>
                  <a:srgbClr val="1A1A2E"/>
                </a:solidFill>
                <a:latin typeface="Courier New"/>
              </a:rPr>
              <a:t>        [np.ones((X.shape[0], 1)), X], axis=1</a:t>
            </a:r>
          </a:p>
          <a:p>
            <a:r>
              <a:rPr sz="1050">
                <a:solidFill>
                  <a:srgbClr val="1A1A2E"/>
                </a:solidFill>
                <a:latin typeface="Courier New"/>
              </a:rPr>
              <a:t>    )</a:t>
            </a:r>
          </a:p>
          <a:p>
            <a:r>
              <a:rPr sz="1050">
                <a:solidFill>
                  <a:srgbClr val="1A1A2E"/>
                </a:solidFill>
                <a:latin typeface="Courier New"/>
              </a:rPr>
              <a:t>    w = rng.random(size=(X.shape[1], 1))</a:t>
            </a:r>
          </a:p>
          <a:p>
            <a:r>
              <a:rPr sz="1050">
                <a:solidFill>
                  <a:srgbClr val="1A1A2E"/>
                </a:solidFill>
                <a:latin typeface="Courier New"/>
              </a:rPr>
              <a:t/>
            </a:r>
          </a:p>
          <a:p>
            <a:r>
              <a:rPr sz="1050">
                <a:solidFill>
                  <a:srgbClr val="1A1A2E"/>
                </a:solidFill>
                <a:latin typeface="Courier New"/>
              </a:rPr>
              <a:t>    for _ in range(iterations):</a:t>
            </a:r>
          </a:p>
          <a:p>
            <a:r>
              <a:rPr sz="1050">
                <a:solidFill>
                  <a:srgbClr val="1A1A2E"/>
                </a:solidFill>
                <a:latin typeface="Courier New"/>
              </a:rPr>
              <a:t>        y_pred   = X @ w</a:t>
            </a:r>
          </a:p>
          <a:p>
            <a:r>
              <a:rPr sz="1050">
                <a:solidFill>
                  <a:srgbClr val="1A1A2E"/>
                </a:solidFill>
                <a:latin typeface="Courier New"/>
              </a:rPr>
              <a:t>        gradient = 2 * X.T @ (y_pred - y) / X.shape[0]</a:t>
            </a:r>
          </a:p>
          <a:p>
            <a:r>
              <a:rPr sz="1050">
                <a:solidFill>
                  <a:srgbClr val="1A1A2E"/>
                </a:solidFill>
                <a:latin typeface="Courier New"/>
              </a:rPr>
              <a:t>        w       -= gradient * learning_rate</a:t>
            </a:r>
          </a:p>
          <a:p>
            <a:r>
              <a:rPr sz="1050">
                <a:solidFill>
                  <a:srgbClr val="1A1A2E"/>
                </a:solidFill>
                <a:latin typeface="Courier New"/>
              </a:rPr>
              <a:t>        if np.linalg.norm(gradient) &lt; tolerance:</a:t>
            </a:r>
          </a:p>
          <a:p>
            <a:r>
              <a:rPr sz="1050">
                <a:solidFill>
                  <a:srgbClr val="1A1A2E"/>
                </a:solidFill>
                <a:latin typeface="Courier New"/>
              </a:rPr>
              <a:t>            break</a:t>
            </a:r>
          </a:p>
          <a:p>
            <a:r>
              <a:rPr sz="1050">
                <a:solidFill>
                  <a:srgbClr val="1A1A2E"/>
                </a:solidFill>
                <a:latin typeface="Courier New"/>
              </a:rPr>
              <a:t>    return w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88952" cy="381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2471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Evaluación de la regresión lineal: el coeficiente R²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12700"/>
          </a:xfrm>
          <a:prstGeom prst="rect">
            <a:avLst/>
          </a:prstGeom>
          <a:solidFill>
            <a:srgbClr val="CC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379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DD"/>
                </a:solidFill>
                <a:latin typeface="Calibri"/>
              </a:rPr>
              <a:t>Análisis de Datos con Python · 4° año ICM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96012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6213E"/>
                </a:solidFill>
                <a:latin typeface="Courier New"/>
              </a:rPr>
              <a:t>r² = 1 − SSres/SStot      SSres = Σ(yᵢ − ŷᵢ)²      SStot = Σ(yᵢ − ȳ)²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41732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55"/>
                </a:solidFill>
                <a:latin typeface="Calibri"/>
              </a:rPr>
              <a:t>Interpretación: fracción de la variabilidad de y explicada por el modelo. r² = 1 → ajuste perfecto. r² = 0 → el modelo no explica nada.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920240"/>
            <a:ext cx="5486400" cy="2286000"/>
          </a:xfrm>
          <a:prstGeom prst="rect">
            <a:avLst/>
          </a:prstGeom>
          <a:solidFill>
            <a:srgbClr val="F0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920240"/>
            <a:ext cx="50800" cy="22860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993392"/>
            <a:ext cx="5303520" cy="21762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1A1A2E"/>
                </a:solidFill>
                <a:latin typeface="Courier New"/>
              </a:rPr>
              <a:t>def squared_r(y_real, y_pred):</a:t>
            </a:r>
          </a:p>
          <a:p>
            <a:r>
              <a:rPr sz="1200">
                <a:solidFill>
                  <a:srgbClr val="1A1A2E"/>
                </a:solidFill>
                <a:latin typeface="Courier New"/>
              </a:rPr>
              <a:t>    SS_res = np.sum((y_real - y_pred)**2)</a:t>
            </a:r>
          </a:p>
          <a:p>
            <a:r>
              <a:rPr sz="1200">
                <a:solidFill>
                  <a:srgbClr val="1A1A2E"/>
                </a:solidFill>
                <a:latin typeface="Courier New"/>
              </a:rPr>
              <a:t>    SS_tot = np.sum((y_real - np.mean(y_real))**2)</a:t>
            </a:r>
          </a:p>
          <a:p>
            <a:r>
              <a:rPr sz="1200">
                <a:solidFill>
                  <a:srgbClr val="1A1A2E"/>
                </a:solidFill>
                <a:latin typeface="Courier New"/>
              </a:rPr>
              <a:t>    return 1 - SS_res / SS_tot</a:t>
            </a:r>
          </a:p>
          <a:p>
            <a:r>
              <a:rPr sz="1200">
                <a:solidFill>
                  <a:srgbClr val="1A1A2E"/>
                </a:solidFill>
                <a:latin typeface="Courier New"/>
              </a:rPr>
              <a:t/>
            </a:r>
          </a:p>
          <a:p>
            <a:r>
              <a:rPr sz="1200">
                <a:solidFill>
                  <a:srgbClr val="1A1A2E"/>
                </a:solidFill>
                <a:latin typeface="Courier New"/>
              </a:rPr>
              <a:t>y_train_pred = X_train @ w[1:] + w[0]</a:t>
            </a:r>
          </a:p>
          <a:p>
            <a:r>
              <a:rPr sz="1200">
                <a:solidFill>
                  <a:srgbClr val="1A1A2E"/>
                </a:solidFill>
                <a:latin typeface="Courier New"/>
              </a:rPr>
              <a:t>y_test_pred  = X_test  @ w[1:] + w[0]</a:t>
            </a:r>
          </a:p>
          <a:p>
            <a:r>
              <a:rPr sz="1200">
                <a:solidFill>
                  <a:srgbClr val="1A1A2E"/>
                </a:solidFill>
                <a:latin typeface="Courier New"/>
              </a:rPr>
              <a:t/>
            </a:r>
          </a:p>
          <a:p>
            <a:r>
              <a:rPr sz="1200">
                <a:solidFill>
                  <a:srgbClr val="1A1A2E"/>
                </a:solidFill>
                <a:latin typeface="Courier New"/>
              </a:rPr>
              <a:t>r2_train = squared_r(y_train, y_train_pred)</a:t>
            </a:r>
          </a:p>
          <a:p>
            <a:r>
              <a:rPr sz="1200">
                <a:solidFill>
                  <a:srgbClr val="1A1A2E"/>
                </a:solidFill>
                <a:latin typeface="Courier New"/>
              </a:rPr>
              <a:t>r2_test  = squared_r(y_test,  y_test_pred)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35040" y="1920240"/>
            <a:ext cx="320040" cy="64008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0" y="2075688"/>
            <a:ext cx="320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1920240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3460"/>
                </a:solidFill>
                <a:latin typeface="Calibri"/>
              </a:rPr>
              <a:t>Escalar ANTES de ajustar.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1945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4455"/>
                </a:solidFill>
                <a:latin typeface="Calibri"/>
              </a:rPr>
              <a:t>Variables en distintas unidades (tph, psi, %) sesgan el gradiente. Aplicar z-score.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35040" y="2670048"/>
            <a:ext cx="320040" cy="6400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35040" y="2825496"/>
            <a:ext cx="320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670048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3460"/>
                </a:solidFill>
                <a:latin typeface="Calibri"/>
              </a:rPr>
              <a:t>Outliers distorsionan el MSE.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2944368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4455"/>
                </a:solidFill>
                <a:latin typeface="Calibri"/>
              </a:rPr>
              <a:t>El MSE es cuadrático: un valor extremo tiene peso desproporcionado.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35040" y="3419856"/>
            <a:ext cx="320040" cy="6400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35040" y="3575304"/>
            <a:ext cx="320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3419856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3460"/>
                </a:solidFill>
                <a:latin typeface="Calibri"/>
              </a:rPr>
              <a:t>r² alto ≠ modelo útil.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3694176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4455"/>
                </a:solidFill>
                <a:latin typeface="Calibri"/>
              </a:rPr>
              <a:t>Puede haber sobreajuste, autocorrelación en residuos, o relación no lineal.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35040" y="4169664"/>
            <a:ext cx="320040" cy="6400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35040" y="4325112"/>
            <a:ext cx="320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4169664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3460"/>
                </a:solidFill>
                <a:latin typeface="Calibri"/>
              </a:rPr>
              <a:t>Los datos reales tienen NaN.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4443984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4455"/>
                </a:solidFill>
                <a:latin typeface="Calibri"/>
              </a:rPr>
              <a:t>Leyes extremas, registros duplicados. La limpieza no es opcional.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88952" cy="381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2471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Regresión logística binaria: cuando la respuesta es 0 o 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12700"/>
          </a:xfrm>
          <a:prstGeom prst="rect">
            <a:avLst/>
          </a:prstGeom>
          <a:solidFill>
            <a:srgbClr val="CC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379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DD"/>
                </a:solidFill>
                <a:latin typeface="Calibri"/>
              </a:rPr>
              <a:t>Análisis de Datos con Python · 4° año ICM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960120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3460"/>
                </a:solidFill>
                <a:latin typeface="Calibri"/>
              </a:rPr>
              <a:t>El problema de clasificación binaria: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298448"/>
            <a:ext cx="5394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55"/>
                </a:solidFill>
                <a:latin typeface="Calibri"/>
              </a:rPr>
              <a:t>La variable de respuesta es binaria (y ∈ {0, 1}). Un modelo lineal puede predecir valores fuera de [0,1]: no tiene sentido como probabilidad.
Solución: transformar la salida con la función logística (sigmoide):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075688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6213E"/>
                </a:solidFill>
                <a:latin typeface="Courier New"/>
              </a:rPr>
              <a:t>φ(u) = 1 / (1 + exp(−u))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487168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55"/>
                </a:solidFill>
                <a:latin typeface="Courier New"/>
              </a:rPr>
              <a:t>φ: ℝ → (0,1)  ·  Interpretación: P(y=1 | 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880360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3460"/>
                </a:solidFill>
                <a:latin typeface="Calibri"/>
              </a:rPr>
              <a:t>Función de costo — Entropía cruzada binaria: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218688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6213E"/>
                </a:solidFill>
                <a:latin typeface="Courier New"/>
              </a:rPr>
              <a:t>ℒ = −(1/m) Σ [yᵢ log(p̂ᵢ) + (1−yᵢ) log(1−p̂ᵢ)]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657600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44455"/>
                </a:solidFill>
                <a:latin typeface="Calibri"/>
              </a:rPr>
              <a:t>Propiedad clave: φ'(u) = φ(u)(1 − φ(u))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35040" y="960120"/>
            <a:ext cx="5760720" cy="5120640"/>
          </a:xfrm>
          <a:prstGeom prst="rect">
            <a:avLst/>
          </a:prstGeom>
          <a:solidFill>
            <a:srgbClr val="F0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35040" y="960120"/>
            <a:ext cx="50800" cy="512064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72200" y="1033272"/>
            <a:ext cx="5577840" cy="5010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1A1A2E"/>
                </a:solidFill>
                <a:latin typeface="Courier New"/>
              </a:rPr>
              <a:t>def sigmoid(x):</a:t>
            </a:r>
          </a:p>
          <a:p>
            <a:r>
              <a:rPr sz="1050">
                <a:solidFill>
                  <a:srgbClr val="1A1A2E"/>
                </a:solidFill>
                <a:latin typeface="Courier New"/>
              </a:rPr>
              <a:t>    return 1 / (1 + np.exp(-x))</a:t>
            </a:r>
          </a:p>
          <a:p>
            <a:r>
              <a:rPr sz="1050">
                <a:solidFill>
                  <a:srgbClr val="1A1A2E"/>
                </a:solidFill>
                <a:latin typeface="Courier New"/>
              </a:rPr>
              <a:t/>
            </a:r>
          </a:p>
          <a:p>
            <a:r>
              <a:rPr sz="1050">
                <a:solidFill>
                  <a:srgbClr val="1A1A2E"/>
                </a:solidFill>
                <a:latin typeface="Courier New"/>
              </a:rPr>
              <a:t>def log_loss(y, y_pred):</a:t>
            </a:r>
          </a:p>
          <a:p>
            <a:r>
              <a:rPr sz="1050">
                <a:solidFill>
                  <a:srgbClr val="1A1A2E"/>
                </a:solidFill>
                <a:latin typeface="Courier New"/>
              </a:rPr>
              <a:t>    eps    = 1e-12</a:t>
            </a:r>
          </a:p>
          <a:p>
            <a:r>
              <a:rPr sz="1050">
                <a:solidFill>
                  <a:srgbClr val="1A1A2E"/>
                </a:solidFill>
                <a:latin typeface="Courier New"/>
              </a:rPr>
              <a:t>    y_pred = np.clip(y_pred, eps, 1 - eps)</a:t>
            </a:r>
          </a:p>
          <a:p>
            <a:r>
              <a:rPr sz="1050">
                <a:solidFill>
                  <a:srgbClr val="1A1A2E"/>
                </a:solidFill>
                <a:latin typeface="Courier New"/>
              </a:rPr>
              <a:t>    return -np.mean(</a:t>
            </a:r>
          </a:p>
          <a:p>
            <a:r>
              <a:rPr sz="1050">
                <a:solidFill>
                  <a:srgbClr val="1A1A2E"/>
                </a:solidFill>
                <a:latin typeface="Courier New"/>
              </a:rPr>
              <a:t>        y * np.log(y_pred) +</a:t>
            </a:r>
          </a:p>
          <a:p>
            <a:r>
              <a:rPr sz="1050">
                <a:solidFill>
                  <a:srgbClr val="1A1A2E"/>
                </a:solidFill>
                <a:latin typeface="Courier New"/>
              </a:rPr>
              <a:t>        (1 - y) * np.log(1 - y_pred)</a:t>
            </a:r>
          </a:p>
          <a:p>
            <a:r>
              <a:rPr sz="1050">
                <a:solidFill>
                  <a:srgbClr val="1A1A2E"/>
                </a:solidFill>
                <a:latin typeface="Courier New"/>
              </a:rPr>
              <a:t>    )</a:t>
            </a:r>
          </a:p>
          <a:p>
            <a:r>
              <a:rPr sz="1050">
                <a:solidFill>
                  <a:srgbClr val="1A1A2E"/>
                </a:solidFill>
                <a:latin typeface="Courier New"/>
              </a:rPr>
              <a:t/>
            </a:r>
          </a:p>
          <a:p>
            <a:r>
              <a:rPr sz="1050">
                <a:solidFill>
                  <a:srgbClr val="1A1A2E"/>
                </a:solidFill>
                <a:latin typeface="Courier New"/>
              </a:rPr>
              <a:t>def fit_logistic_regression(X, y, ...):</a:t>
            </a:r>
          </a:p>
          <a:p>
            <a:r>
              <a:rPr sz="1050">
                <a:solidFill>
                  <a:srgbClr val="1A1A2E"/>
                </a:solidFill>
                <a:latin typeface="Courier New"/>
              </a:rPr>
              <a:t>    X = np.hstack((np.ones((X.shape[0],1)), X))</a:t>
            </a:r>
          </a:p>
          <a:p>
            <a:r>
              <a:rPr sz="1050">
                <a:solidFill>
                  <a:srgbClr val="1A1A2E"/>
                </a:solidFill>
                <a:latin typeface="Courier New"/>
              </a:rPr>
              <a:t>    w = np.zeros(X.shape[1])</a:t>
            </a:r>
          </a:p>
          <a:p>
            <a:r>
              <a:rPr sz="1050">
                <a:solidFill>
                  <a:srgbClr val="1A1A2E"/>
                </a:solidFill>
                <a:latin typeface="Courier New"/>
              </a:rPr>
              <a:t>    for _ in range(iterations):</a:t>
            </a:r>
          </a:p>
          <a:p>
            <a:r>
              <a:rPr sz="1050">
                <a:solidFill>
                  <a:srgbClr val="1A1A2E"/>
                </a:solidFill>
                <a:latin typeface="Courier New"/>
              </a:rPr>
              <a:t>        z        = np.dot(X, w)</a:t>
            </a:r>
          </a:p>
          <a:p>
            <a:r>
              <a:rPr sz="1050">
                <a:solidFill>
                  <a:srgbClr val="1A1A2E"/>
                </a:solidFill>
                <a:latin typeface="Courier New"/>
              </a:rPr>
              <a:t>        y_pred   = sigmoid(z)</a:t>
            </a:r>
          </a:p>
          <a:p>
            <a:r>
              <a:rPr sz="1050">
                <a:solidFill>
                  <a:srgbClr val="1A1A2E"/>
                </a:solidFill>
                <a:latin typeface="Courier New"/>
              </a:rPr>
              <a:t>        gradient = np.dot(X.T, y_pred-y) / y.size</a:t>
            </a:r>
          </a:p>
          <a:p>
            <a:r>
              <a:rPr sz="1050">
                <a:solidFill>
                  <a:srgbClr val="1A1A2E"/>
                </a:solidFill>
                <a:latin typeface="Courier New"/>
              </a:rPr>
              <a:t>        w       -= learning_rate * gradient</a:t>
            </a:r>
          </a:p>
          <a:p>
            <a:r>
              <a:rPr sz="1050">
                <a:solidFill>
                  <a:srgbClr val="1A1A2E"/>
                </a:solidFill>
                <a:latin typeface="Courier New"/>
              </a:rPr>
              <a:t>    return w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88952" cy="381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2471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Evaluación del clasificador: matriz de confusión y métricas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12700"/>
          </a:xfrm>
          <a:prstGeom prst="rect">
            <a:avLst/>
          </a:prstGeom>
          <a:solidFill>
            <a:srgbClr val="CC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379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DD"/>
                </a:solidFill>
                <a:latin typeface="Calibri"/>
              </a:rPr>
              <a:t>Análisis de Datos con Python · 4° año ICM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96012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3460"/>
                </a:solidFill>
                <a:latin typeface="Calibri"/>
              </a:rPr>
              <a:t>Umbral de clasificación: predecir Ŷ=1 si P(Y=1) &gt; 0.5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371600"/>
            <a:ext cx="1783080" cy="4572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463040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0" name="Rectangle 9"/>
          <p:cNvSpPr/>
          <p:nvPr/>
        </p:nvSpPr>
        <p:spPr>
          <a:xfrm>
            <a:off x="2194560" y="1371600"/>
            <a:ext cx="1783080" cy="4572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40280" y="1463040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Real Y = 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023360" y="1371600"/>
            <a:ext cx="1783080" cy="4572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069080" y="1463040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Real Y = 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1828800"/>
            <a:ext cx="1783080" cy="4572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1920240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Pred Ŷ = 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194560" y="1828800"/>
            <a:ext cx="1783080" cy="4572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240280" y="1920240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44455"/>
                </a:solidFill>
                <a:latin typeface="Calibri"/>
              </a:rPr>
              <a:t>VP (Verd. Pos.)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023360" y="1828800"/>
            <a:ext cx="1783080" cy="457200"/>
          </a:xfrm>
          <a:prstGeom prst="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069080" y="1920240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44455"/>
                </a:solidFill>
                <a:latin typeface="Calibri"/>
              </a:rPr>
              <a:t>FP (Falso Pos.)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2286000"/>
            <a:ext cx="1783080" cy="4572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" y="2377440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Pred Ŷ = 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194560" y="2286000"/>
            <a:ext cx="1783080" cy="457200"/>
          </a:xfrm>
          <a:prstGeom prst="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240280" y="2377440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44455"/>
                </a:solidFill>
                <a:latin typeface="Calibri"/>
              </a:rPr>
              <a:t>FN (Falso Neg.)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023360" y="2286000"/>
            <a:ext cx="1783080" cy="4572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069080" y="2377440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44455"/>
                </a:solidFill>
                <a:latin typeface="Calibri"/>
              </a:rPr>
              <a:t>VN (Verd. Neg.)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274320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55"/>
                </a:solidFill>
                <a:latin typeface="Calibri"/>
              </a:rPr>
              <a:t>Sensibilidad (Recall) = VP / (VP + FN)  →  Fracción de positivos reales bien detectados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310896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55"/>
                </a:solidFill>
                <a:latin typeface="Calibri"/>
              </a:rPr>
              <a:t>Especificidad         = VN / (VN + FP)  →  Fracción de negativos reales bien detectados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35040" y="1298448"/>
            <a:ext cx="5760720" cy="3383280"/>
          </a:xfrm>
          <a:prstGeom prst="rect">
            <a:avLst/>
          </a:prstGeom>
          <a:solidFill>
            <a:srgbClr val="F0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035040" y="1298448"/>
            <a:ext cx="50800" cy="338328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72200" y="1371600"/>
            <a:ext cx="5577840" cy="3273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1A1A2E"/>
                </a:solidFill>
                <a:latin typeface="Courier New"/>
              </a:rPr>
              <a:t>def confusion_matrix(y_true, y_pred):</a:t>
            </a:r>
          </a:p>
          <a:p>
            <a:r>
              <a:rPr sz="1050">
                <a:solidFill>
                  <a:srgbClr val="1A1A2E"/>
                </a:solidFill>
                <a:latin typeface="Courier New"/>
              </a:rPr>
              <a:t>    VP = np.sum((y_true==1) &amp; (y_pred==1))</a:t>
            </a:r>
          </a:p>
          <a:p>
            <a:r>
              <a:rPr sz="1050">
                <a:solidFill>
                  <a:srgbClr val="1A1A2E"/>
                </a:solidFill>
                <a:latin typeface="Courier New"/>
              </a:rPr>
              <a:t>    VN = np.sum((y_true==0) &amp; (y_pred==0))</a:t>
            </a:r>
          </a:p>
          <a:p>
            <a:r>
              <a:rPr sz="1050">
                <a:solidFill>
                  <a:srgbClr val="1A1A2E"/>
                </a:solidFill>
                <a:latin typeface="Courier New"/>
              </a:rPr>
              <a:t>    FP = np.sum((y_true==0) &amp; (y_pred==1))</a:t>
            </a:r>
          </a:p>
          <a:p>
            <a:r>
              <a:rPr sz="1050">
                <a:solidFill>
                  <a:srgbClr val="1A1A2E"/>
                </a:solidFill>
                <a:latin typeface="Courier New"/>
              </a:rPr>
              <a:t>    FN = np.sum((y_true==1) &amp; (y_pred==0))</a:t>
            </a:r>
          </a:p>
          <a:p>
            <a:r>
              <a:rPr sz="1050">
                <a:solidFill>
                  <a:srgbClr val="1A1A2E"/>
                </a:solidFill>
                <a:latin typeface="Courier New"/>
              </a:rPr>
              <a:t>    return np.array([[VP, FP], [FN, VN]])</a:t>
            </a:r>
          </a:p>
          <a:p>
            <a:r>
              <a:rPr sz="1050">
                <a:solidFill>
                  <a:srgbClr val="1A1A2E"/>
                </a:solidFill>
                <a:latin typeface="Courier New"/>
              </a:rPr>
              <a:t/>
            </a:r>
          </a:p>
          <a:p>
            <a:r>
              <a:rPr sz="1050">
                <a:solidFill>
                  <a:srgbClr val="1A1A2E"/>
                </a:solidFill>
                <a:latin typeface="Courier New"/>
              </a:rPr>
              <a:t>def predict(X, theta):</a:t>
            </a:r>
          </a:p>
          <a:p>
            <a:r>
              <a:rPr sz="1050">
                <a:solidFill>
                  <a:srgbClr val="1A1A2E"/>
                </a:solidFill>
                <a:latin typeface="Courier New"/>
              </a:rPr>
              <a:t>    X      = np.hstack((np.ones((X.shape[0],1)), X))</a:t>
            </a:r>
          </a:p>
          <a:p>
            <a:r>
              <a:rPr sz="1050">
                <a:solidFill>
                  <a:srgbClr val="1A1A2E"/>
                </a:solidFill>
                <a:latin typeface="Courier New"/>
              </a:rPr>
              <a:t>    y_pred = sigmoid(np.dot(X, theta))</a:t>
            </a:r>
          </a:p>
          <a:p>
            <a:r>
              <a:rPr sz="1050">
                <a:solidFill>
                  <a:srgbClr val="1A1A2E"/>
                </a:solidFill>
                <a:latin typeface="Courier New"/>
              </a:rPr>
              <a:t>    return np.where(y_pred &gt; 0.5, 1, 0)</a:t>
            </a:r>
          </a:p>
          <a:p>
            <a:r>
              <a:rPr sz="1050">
                <a:solidFill>
                  <a:srgbClr val="1A1A2E"/>
                </a:solidFill>
                <a:latin typeface="Courier New"/>
              </a:rPr>
              <a:t/>
            </a:r>
          </a:p>
          <a:p>
            <a:r>
              <a:rPr sz="1050">
                <a:solidFill>
                  <a:srgbClr val="1A1A2E"/>
                </a:solidFill>
                <a:latin typeface="Courier New"/>
              </a:rPr>
              <a:t>cm = confusion_matrix(y_test, predict(X_test, w))</a:t>
            </a:r>
          </a:p>
          <a:p>
            <a:r>
              <a:rPr sz="1050">
                <a:solidFill>
                  <a:srgbClr val="1A1A2E"/>
                </a:solidFill>
                <a:latin typeface="Courier New"/>
              </a:rPr>
              <a:t>sensibilidad  = cm[0,0] / (cm[0,0] + cm[1,0])</a:t>
            </a:r>
          </a:p>
          <a:p>
            <a:r>
              <a:rPr sz="1050">
                <a:solidFill>
                  <a:srgbClr val="1A1A2E"/>
                </a:solidFill>
                <a:latin typeface="Courier New"/>
              </a:rPr>
              <a:t>especificidad = cm[1,1] / (cm[1,1] + cm[0,1])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3566160"/>
            <a:ext cx="5394960" cy="914400"/>
          </a:xfrm>
          <a:prstGeom prst="rect">
            <a:avLst/>
          </a:prstGeom>
          <a:solidFill>
            <a:srgbClr val="F0F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65760" y="3566160"/>
            <a:ext cx="63500" cy="914400"/>
          </a:xfrm>
          <a:prstGeom prst="rect">
            <a:avLst/>
          </a:prstGeom>
          <a:solidFill>
            <a:srgbClr val="1D9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" y="361188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D9A6C"/>
                </a:solidFill>
                <a:latin typeface="Calibri"/>
              </a:rPr>
              <a:t>Detección de fallas en minería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3858768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444455"/>
                </a:solidFill>
                <a:latin typeface="Calibri"/>
              </a:rPr>
              <a:t>Si el modelo detecta fallas en equipos (y=1 = falla), maximizar sensibilidad es crítico. Un falso negativo (falla no detectada) es peor que un falso positivo (parada innecesaria).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2743200"/>
            <a:ext cx="64008" cy="128016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274320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Cierre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361188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CCCCDD"/>
                </a:solidFill>
                <a:latin typeface="Calibri"/>
              </a:rPr>
              <a:t>NumPy como base de todo lo que viene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DD"/>
                </a:solidFill>
                <a:latin typeface="Calibri"/>
              </a:rPr>
              <a:t>Análisis de Datos con Python · 4° año ICM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88952" cy="381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2471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Hoja de referencia rápida — NumPy en una sola página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12700"/>
          </a:xfrm>
          <a:prstGeom prst="rect">
            <a:avLst/>
          </a:prstGeom>
          <a:solidFill>
            <a:srgbClr val="CC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379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DD"/>
                </a:solidFill>
                <a:latin typeface="Calibri"/>
              </a:rPr>
              <a:t>Análisis de Datos con Python · 4° año ICM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960120"/>
            <a:ext cx="54864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F3460"/>
                </a:solidFill>
                <a:latin typeface="Calibri"/>
              </a:rPr>
              <a:t>CREACIÓN</a:t>
            </a:r>
          </a:p>
          <a:p>
            <a:r>
              <a:rPr sz="1000" b="0">
                <a:solidFill>
                  <a:srgbClr val="1A1A2E"/>
                </a:solidFill>
                <a:latin typeface="Courier New"/>
              </a:rPr>
              <a:t>np.array([1,2,3])</a:t>
            </a:r>
          </a:p>
          <a:p>
            <a:r>
              <a:rPr sz="1000" b="0">
                <a:solidFill>
                  <a:srgbClr val="1A1A2E"/>
                </a:solidFill>
                <a:latin typeface="Courier New"/>
              </a:rPr>
              <a:t>np.zeros/ones/full/eye</a:t>
            </a:r>
          </a:p>
          <a:p>
            <a:r>
              <a:rPr sz="1000" b="0">
                <a:solidFill>
                  <a:srgbClr val="1A1A2E"/>
                </a:solidFill>
                <a:latin typeface="Courier New"/>
              </a:rPr>
              <a:t>np.arange / np.linspace</a:t>
            </a:r>
          </a:p>
          <a:p>
            <a:r>
              <a:rPr sz="1000" b="0">
                <a:solidFill>
                  <a:srgbClr val="1A1A2E"/>
                </a:solidFill>
                <a:latin typeface="Courier New"/>
              </a:rPr>
              <a:t>np.meshgrid(x, y)</a:t>
            </a:r>
          </a:p>
          <a:p>
            <a:r>
              <a:rPr sz="1000" b="0">
                <a:solidFill>
                  <a:srgbClr val="1A1A2E"/>
                </a:solidFill>
                <a:latin typeface="Courier New"/>
              </a:rPr>
              <a:t>rng.normal / integers</a:t>
            </a:r>
          </a:p>
          <a:p>
            <a:r>
              <a:rPr sz="800" b="0">
                <a:solidFill>
                  <a:srgbClr val="FFFFFF"/>
                </a:solidFill>
                <a:latin typeface="Courier New"/>
              </a:rPr>
              <a:t/>
            </a:r>
          </a:p>
          <a:p>
            <a:r>
              <a:rPr sz="1100" b="1">
                <a:solidFill>
                  <a:srgbClr val="0F3460"/>
                </a:solidFill>
                <a:latin typeface="Calibri"/>
              </a:rPr>
              <a:t>ATRIBUTOS</a:t>
            </a:r>
          </a:p>
          <a:p>
            <a:r>
              <a:rPr sz="1000" b="0">
                <a:solidFill>
                  <a:srgbClr val="1A1A2E"/>
                </a:solidFill>
                <a:latin typeface="Courier New"/>
              </a:rPr>
              <a:t>.shape  .ndim  .size</a:t>
            </a:r>
          </a:p>
          <a:p>
            <a:r>
              <a:rPr sz="1000" b="0">
                <a:solidFill>
                  <a:srgbClr val="1A1A2E"/>
                </a:solidFill>
                <a:latin typeface="Courier New"/>
              </a:rPr>
              <a:t>.dtype  .itemsize  .nbytes</a:t>
            </a:r>
          </a:p>
          <a:p>
            <a:r>
              <a:rPr sz="800" b="0">
                <a:solidFill>
                  <a:srgbClr val="FFFFFF"/>
                </a:solidFill>
                <a:latin typeface="Courier New"/>
              </a:rPr>
              <a:t/>
            </a:r>
          </a:p>
          <a:p>
            <a:r>
              <a:rPr sz="1100" b="1">
                <a:solidFill>
                  <a:srgbClr val="0F3460"/>
                </a:solidFill>
                <a:latin typeface="Calibri"/>
              </a:rPr>
              <a:t>RESHAPE / UNIÓN</a:t>
            </a:r>
          </a:p>
          <a:p>
            <a:r>
              <a:rPr sz="1000" b="0">
                <a:solidFill>
                  <a:srgbClr val="1A1A2E"/>
                </a:solidFill>
                <a:latin typeface="Courier New"/>
              </a:rPr>
              <a:t>A.T     A.ravel()   A.reshape()</a:t>
            </a:r>
          </a:p>
          <a:p>
            <a:r>
              <a:rPr sz="1000" b="0">
                <a:solidFill>
                  <a:srgbClr val="1A1A2E"/>
                </a:solidFill>
                <a:latin typeface="Courier New"/>
              </a:rPr>
              <a:t>np.vstack / hstack / concatenate</a:t>
            </a:r>
          </a:p>
          <a:p>
            <a:r>
              <a:rPr sz="1000" b="0">
                <a:solidFill>
                  <a:srgbClr val="1A1A2E"/>
                </a:solidFill>
                <a:latin typeface="Courier New"/>
              </a:rPr>
              <a:t>np.vsplit / hsplit / split</a:t>
            </a:r>
          </a:p>
          <a:p>
            <a:r>
              <a:rPr sz="800" b="0">
                <a:solidFill>
                  <a:srgbClr val="FFFFFF"/>
                </a:solidFill>
                <a:latin typeface="Courier New"/>
              </a:rPr>
              <a:t/>
            </a:r>
          </a:p>
          <a:p>
            <a:r>
              <a:rPr sz="1100" b="1">
                <a:solidFill>
                  <a:srgbClr val="0F3460"/>
                </a:solidFill>
                <a:latin typeface="Calibri"/>
              </a:rPr>
              <a:t>I/O</a:t>
            </a:r>
          </a:p>
          <a:p>
            <a:r>
              <a:rPr sz="1000" b="0">
                <a:solidFill>
                  <a:srgbClr val="1A1A2E"/>
                </a:solidFill>
                <a:latin typeface="Courier New"/>
              </a:rPr>
              <a:t>np.loadtxt / genfromtxt</a:t>
            </a:r>
          </a:p>
          <a:p>
            <a:r>
              <a:rPr sz="1000" b="0">
                <a:solidFill>
                  <a:srgbClr val="1A1A2E"/>
                </a:solidFill>
                <a:latin typeface="Courier New"/>
              </a:rPr>
              <a:t>np.save / load   (.npy)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960120"/>
            <a:ext cx="54864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F3460"/>
                </a:solidFill>
                <a:latin typeface="Calibri"/>
              </a:rPr>
              <a:t>OPERATORIA</a:t>
            </a:r>
          </a:p>
          <a:p>
            <a:r>
              <a:rPr sz="1000" b="0">
                <a:solidFill>
                  <a:srgbClr val="1A1A2E"/>
                </a:solidFill>
                <a:latin typeface="Courier New"/>
              </a:rPr>
              <a:t>a+b  a-b  a*b  a/b  a**2</a:t>
            </a:r>
          </a:p>
          <a:p>
            <a:r>
              <a:rPr sz="1000" b="0">
                <a:solidFill>
                  <a:srgbClr val="1A1A2E"/>
                </a:solidFill>
                <a:latin typeface="Courier New"/>
              </a:rPr>
              <a:t>A @ B          (matricial)</a:t>
            </a:r>
          </a:p>
          <a:p>
            <a:r>
              <a:rPr sz="1000" b="0">
                <a:solidFill>
                  <a:srgbClr val="1A1A2E"/>
                </a:solidFill>
                <a:latin typeface="Courier New"/>
              </a:rPr>
              <a:t>np.dot(a, b)   (producto interno)</a:t>
            </a:r>
          </a:p>
          <a:p>
            <a:r>
              <a:rPr sz="1000" b="0">
                <a:solidFill>
                  <a:srgbClr val="1A1A2E"/>
                </a:solidFill>
                <a:latin typeface="Courier New"/>
              </a:rPr>
              <a:t>np.linalg.norm / solve / svd</a:t>
            </a:r>
          </a:p>
          <a:p>
            <a:r>
              <a:rPr sz="1000" b="0">
                <a:solidFill>
                  <a:srgbClr val="1A1A2E"/>
                </a:solidFill>
                <a:latin typeface="Courier New"/>
              </a:rPr>
              <a:t>np.abs / exp / log / sin / cos</a:t>
            </a:r>
          </a:p>
          <a:p>
            <a:r>
              <a:rPr sz="800" b="0">
                <a:solidFill>
                  <a:srgbClr val="FFFFFF"/>
                </a:solidFill>
                <a:latin typeface="Courier New"/>
              </a:rPr>
              <a:t/>
            </a:r>
          </a:p>
          <a:p>
            <a:r>
              <a:rPr sz="1100" b="1">
                <a:solidFill>
                  <a:srgbClr val="0F3460"/>
                </a:solidFill>
                <a:latin typeface="Calibri"/>
              </a:rPr>
              <a:t>AGREGACIÓN</a:t>
            </a:r>
          </a:p>
          <a:p>
            <a:r>
              <a:rPr sz="1000" b="0">
                <a:solidFill>
                  <a:srgbClr val="1A1A2E"/>
                </a:solidFill>
                <a:latin typeface="Courier New"/>
              </a:rPr>
              <a:t>A.sum/mean/std/var(axis=0)</a:t>
            </a:r>
          </a:p>
          <a:p>
            <a:r>
              <a:rPr sz="1000" b="0">
                <a:solidFill>
                  <a:srgbClr val="1A1A2E"/>
                </a:solidFill>
                <a:latin typeface="Courier New"/>
              </a:rPr>
              <a:t>A.max/min/argmax/argmin()</a:t>
            </a:r>
          </a:p>
          <a:p>
            <a:r>
              <a:rPr sz="1000" b="0">
                <a:solidFill>
                  <a:srgbClr val="1A1A2E"/>
                </a:solidFill>
                <a:latin typeface="Courier New"/>
              </a:rPr>
              <a:t>np.nanmean / nanstd / nansum</a:t>
            </a:r>
          </a:p>
          <a:p>
            <a:r>
              <a:rPr sz="800" b="0">
                <a:solidFill>
                  <a:srgbClr val="FFFFFF"/>
                </a:solidFill>
                <a:latin typeface="Courier New"/>
              </a:rPr>
              <a:t/>
            </a:r>
          </a:p>
          <a:p>
            <a:r>
              <a:rPr sz="1100" b="1">
                <a:solidFill>
                  <a:srgbClr val="0F3460"/>
                </a:solidFill>
                <a:latin typeface="Calibri"/>
              </a:rPr>
              <a:t>FILTRADO Y SELECCIÓN</a:t>
            </a:r>
          </a:p>
          <a:p>
            <a:r>
              <a:rPr sz="1000" b="0">
                <a:solidFill>
                  <a:srgbClr val="1A1A2E"/>
                </a:solidFill>
                <a:latin typeface="Courier New"/>
              </a:rPr>
              <a:t>x &gt; 3   np.any/all(x &gt; 3)</a:t>
            </a:r>
          </a:p>
          <a:p>
            <a:r>
              <a:rPr sz="1000" b="0">
                <a:solidFill>
                  <a:srgbClr val="1A1A2E"/>
                </a:solidFill>
                <a:latin typeface="Courier New"/>
              </a:rPr>
              <a:t>x[(x&gt;3)&amp;(x&lt;8)]  (masking)</a:t>
            </a:r>
          </a:p>
          <a:p>
            <a:r>
              <a:rPr sz="1000" b="0">
                <a:solidFill>
                  <a:srgbClr val="1A1A2E"/>
                </a:solidFill>
                <a:latin typeface="Courier New"/>
              </a:rPr>
              <a:t>x[[0,4,7]]      (fancy idx)</a:t>
            </a:r>
          </a:p>
          <a:p>
            <a:r>
              <a:rPr sz="1000" b="0">
                <a:solidFill>
                  <a:srgbClr val="1A1A2E"/>
                </a:solidFill>
                <a:latin typeface="Courier New"/>
              </a:rPr>
              <a:t>M[np.ix_(rows, cols)]</a:t>
            </a:r>
          </a:p>
          <a:p>
            <a:r>
              <a:rPr sz="1000" b="0">
                <a:solidFill>
                  <a:srgbClr val="1A1A2E"/>
                </a:solidFill>
                <a:latin typeface="Courier New"/>
              </a:rPr>
              <a:t>np.where(cond, a, b)</a:t>
            </a:r>
          </a:p>
          <a:p>
            <a:r>
              <a:rPr sz="1000" b="0">
                <a:solidFill>
                  <a:srgbClr val="1A1A2E"/>
                </a:solidFill>
                <a:latin typeface="Courier New"/>
              </a:rPr>
              <a:t>np.sort / argsort / partition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88952" cy="381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2471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Lo que aprendimos: del arreglo al modelo predictivo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12700"/>
          </a:xfrm>
          <a:prstGeom prst="rect">
            <a:avLst/>
          </a:prstGeom>
          <a:solidFill>
            <a:srgbClr val="CC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379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DD"/>
                </a:solidFill>
                <a:latin typeface="Calibri"/>
              </a:rPr>
              <a:t>Análisis de Datos con Python · 4° año ICM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005840"/>
            <a:ext cx="1463040" cy="8229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1060704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Módulo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" y="1353312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El arreglo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" y="118872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55"/>
                </a:solidFill>
                <a:latin typeface="Calibri"/>
              </a:rPr>
              <a:t>ndarray, geometría, ejes, atributos, tipos, rutinas de creación, I/O, indexación, slicing, reshape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965960"/>
            <a:ext cx="1463040" cy="82296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4048" y="2020824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Módulo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" y="2313432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Operatoria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65960" y="214884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55"/>
                </a:solidFill>
                <a:latin typeface="Calibri"/>
              </a:rPr>
              <a:t>ufuncs, aritmética vectorizada, Hadamard vs producto matricial, álgebra lineal, trigonometría, log/exp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926080"/>
            <a:ext cx="1463040" cy="822960"/>
          </a:xfrm>
          <a:prstGeom prst="rect">
            <a:avLst/>
          </a:prstGeom>
          <a:solidFill>
            <a:srgbClr val="1D9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4048" y="2980944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Módulo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" y="3273552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Broadcasting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65960" y="310896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55"/>
                </a:solidFill>
                <a:latin typeface="Calibri"/>
              </a:rPr>
              <a:t>Reglas de broadcasting, z-score por broadcasting, funciones de agregación por eje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886200"/>
            <a:ext cx="1463040" cy="82296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4048" y="3941064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Módulo 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" y="4233672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Filtrado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65960" y="406908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55"/>
                </a:solidFill>
                <a:latin typeface="Calibri"/>
              </a:rPr>
              <a:t>Comparación booleana, operadores lógicos, masking, fancy indexing, ordenamiento, reemplazo condicional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4846320"/>
            <a:ext cx="1463040" cy="82296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84048" y="4901184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Módulo 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4048" y="5193792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Modelamiento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65960" y="502920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55"/>
                </a:solidFill>
                <a:latin typeface="Calibri"/>
              </a:rPr>
              <a:t>Regresión lineal (MSE + GD), R², regresión logística binaria (sigmoide + log-loss), matriz de confusión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585216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1">
                <a:solidFill>
                  <a:srgbClr val="16213E"/>
                </a:solidFill>
                <a:latin typeface="Calibri"/>
              </a:rPr>
              <a:t>Dominar NumPy no es dominar una librería. Es dominar la lógica sobre la cual todo el stack científico de Python está construido.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926080"/>
            <a:ext cx="10789920" cy="381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06324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  <a:latin typeface="Calibri"/>
              </a:rPr>
              <a:t>Gracias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977639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CCDD"/>
                </a:solidFill>
                <a:latin typeface="Calibri"/>
              </a:rPr>
              <a:t>Notas completas disponibles en el blog del curso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43484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94560"/>
                </a:solidFill>
                <a:latin typeface="Calibri"/>
              </a:rPr>
              <a:t>Próxima sesión: Análisis tabular con Pandas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